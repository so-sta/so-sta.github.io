
<file path=[Content_Types].xml><?xml version="1.0" encoding="utf-8"?>
<Types xmlns="http://schemas.openxmlformats.org/package/2006/content-types">
  <Default Extension="35761904761904761&amp;cropmode=percentage&amp;width=900&amp;height=300&amp;rnd=132145913410000000" ContentType="image/png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68" r:id="rId3"/>
    <p:sldId id="325" r:id="rId4"/>
    <p:sldId id="326" r:id="rId5"/>
    <p:sldId id="1872" r:id="rId6"/>
    <p:sldId id="1873" r:id="rId7"/>
    <p:sldId id="1881" r:id="rId8"/>
    <p:sldId id="1882" r:id="rId9"/>
    <p:sldId id="1883" r:id="rId10"/>
    <p:sldId id="1884" r:id="rId11"/>
    <p:sldId id="1878" r:id="rId12"/>
    <p:sldId id="1889" r:id="rId13"/>
    <p:sldId id="1885" r:id="rId14"/>
    <p:sldId id="1879" r:id="rId15"/>
    <p:sldId id="1886" r:id="rId16"/>
    <p:sldId id="271" r:id="rId17"/>
    <p:sldId id="257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1887" r:id="rId26"/>
    <p:sldId id="280" r:id="rId27"/>
    <p:sldId id="281" r:id="rId28"/>
    <p:sldId id="1888" r:id="rId29"/>
    <p:sldId id="284" r:id="rId30"/>
    <p:sldId id="285" r:id="rId31"/>
    <p:sldId id="286" r:id="rId32"/>
    <p:sldId id="289" r:id="rId33"/>
    <p:sldId id="189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3ED2F-B562-4615-93A5-A5C3ECFFB4F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3FCED-5DF4-4FCB-968C-87DE928678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57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Times New Roman" panose="02020603050405020304" pitchFamily="18" charset="0"/>
              <a:buNone/>
            </a:pPr>
            <a:fld id="{330438A5-7F62-44D5-87B4-79CA08A20ECF}" type="slidenum">
              <a:rPr lang="en-US" altLang="it-IT" smtClean="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</a:rPr>
              <a:pPr>
                <a:buFont typeface="Times New Roman" panose="02020603050405020304" pitchFamily="18" charset="0"/>
                <a:buNone/>
              </a:pPr>
              <a:t>3</a:t>
            </a:fld>
            <a:endParaRPr lang="en-US" altLang="it-IT">
              <a:solidFill>
                <a:srgbClr val="000000"/>
              </a:solidFill>
              <a:latin typeface="Times New Roman" panose="02020603050405020304" pitchFamily="18" charset="0"/>
              <a:ea typeface="Arial Unicode MS" panose="020B0604020202020204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7825" y="685800"/>
            <a:ext cx="6100763" cy="3432175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latin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34399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2313" algn="l"/>
                <a:tab pos="1446213" algn="l"/>
                <a:tab pos="217011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Times New Roman" panose="02020603050405020304" pitchFamily="18" charset="0"/>
              <a:buNone/>
            </a:pPr>
            <a:fld id="{330438A5-7F62-44D5-87B4-79CA08A20ECF}" type="slidenum">
              <a:rPr lang="en-US" altLang="it-IT" smtClean="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</a:rPr>
              <a:pPr>
                <a:buFont typeface="Times New Roman" panose="02020603050405020304" pitchFamily="18" charset="0"/>
                <a:buNone/>
              </a:pPr>
              <a:t>4</a:t>
            </a:fld>
            <a:endParaRPr lang="en-US" altLang="it-IT">
              <a:solidFill>
                <a:srgbClr val="000000"/>
              </a:solidFill>
              <a:latin typeface="Times New Roman" panose="02020603050405020304" pitchFamily="18" charset="0"/>
              <a:ea typeface="Arial Unicode MS" panose="020B0604020202020204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7825" y="685800"/>
            <a:ext cx="6100763" cy="3432175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latin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8901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3" name="Shape 22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La via possibile (evidence based) della compressione della morbosità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A66AB6D-4049-486A-B834-CDBE5EF9E958}" type="slidenum">
              <a:rPr lang="it-IT" smtClean="0">
                <a:latin typeface="Times New Roman" pitchFamily="18" charset="0"/>
              </a:rPr>
              <a:pPr/>
              <a:t>13</a:t>
            </a:fld>
            <a:endParaRPr lang="it-IT">
              <a:latin typeface="Times New Roman" pitchFamily="18" charset="0"/>
            </a:endParaRPr>
          </a:p>
        </p:txBody>
      </p:sp>
      <p:sp>
        <p:nvSpPr>
          <p:cNvPr id="471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solidFill>
            <a:srgbClr val="FFFFFF"/>
          </a:solidFill>
          <a:ln/>
        </p:spPr>
      </p:sp>
      <p:sp>
        <p:nvSpPr>
          <p:cNvPr id="471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79292" y="4717893"/>
            <a:ext cx="5437504" cy="4470083"/>
          </a:xfrm>
          <a:noFill/>
          <a:ln/>
        </p:spPr>
        <p:txBody>
          <a:bodyPr wrap="none" anchor="ctr"/>
          <a:lstStyle/>
          <a:p>
            <a:endParaRPr lang="it-IT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083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26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72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63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2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2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30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46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60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4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1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32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9;p4"/>
          <p:cNvSpPr/>
          <p:nvPr/>
        </p:nvSpPr>
        <p:spPr>
          <a:xfrm>
            <a:off x="0" y="6727600"/>
            <a:ext cx="12192000" cy="130401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/>
            </a:pPr>
            <a:endParaRPr/>
          </a:p>
        </p:txBody>
      </p:sp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1" cy="763601"/>
          </a:xfrm>
          <a:prstGeom prst="rect">
            <a:avLst/>
          </a:prstGeom>
        </p:spPr>
        <p:txBody>
          <a:bodyPr lIns="91424" tIns="91424" rIns="91424" bIns="91424" anchor="t"/>
          <a:lstStyle/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1" cy="4555200"/>
          </a:xfrm>
          <a:prstGeom prst="rect">
            <a:avLst/>
          </a:prstGeom>
        </p:spPr>
        <p:txBody>
          <a:bodyPr lIns="91424" tIns="91424" rIns="91424" bIns="91424"/>
          <a:lstStyle>
            <a:lvl1pPr marL="609584" indent="-457189">
              <a:spcBef>
                <a:spcPts val="0"/>
              </a:spcBef>
              <a:buSzPts val="2800"/>
              <a:buChar char="●"/>
            </a:lvl1pPr>
            <a:lvl2pPr marL="1289723" indent="-493876">
              <a:spcBef>
                <a:spcPts val="0"/>
              </a:spcBef>
              <a:buSzPts val="2800"/>
              <a:buChar char="○"/>
            </a:lvl2pPr>
            <a:lvl3pPr marL="1998083" indent="-592652">
              <a:spcBef>
                <a:spcPts val="0"/>
              </a:spcBef>
              <a:buSzPts val="2800"/>
              <a:buChar char="■"/>
            </a:lvl3pPr>
            <a:lvl4pPr marL="2673518" indent="-658502">
              <a:spcBef>
                <a:spcPts val="0"/>
              </a:spcBef>
              <a:buSzPts val="2800"/>
              <a:buChar char="●"/>
            </a:lvl4pPr>
            <a:lvl5pPr marL="3283103" indent="-658502">
              <a:spcBef>
                <a:spcPts val="0"/>
              </a:spcBef>
              <a:buSzPts val="2800"/>
              <a:buChar char="○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04" name="logo_unive.jpgGoogle Shape;23;p4" descr="logo_unive.jpgGoogle Shape;23;p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734" y="52967"/>
            <a:ext cx="1754266" cy="8479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78177" y="6310165"/>
            <a:ext cx="350035" cy="339716"/>
          </a:xfrm>
          <a:prstGeom prst="rect">
            <a:avLst/>
          </a:prstGeom>
        </p:spPr>
        <p:txBody>
          <a:bodyPr lIns="91424" tIns="91424" rIns="91424" bIns="91424">
            <a:normAutofit/>
          </a:bodyPr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942479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7395A-0017-43A2-A81E-5DDD72F116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63D5B-9C89-4F0D-ADF4-6ADECA9CD5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2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35761904761904761&amp;cropmode=percentage&amp;width=900&amp;height=300&amp;rnd=132145913410000000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9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sosta-apps.shinyapps.io/prevalence-curves/" TargetMode="Externa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219200" y="4229100"/>
            <a:ext cx="9144000" cy="2628900"/>
          </a:xfrm>
        </p:spPr>
        <p:txBody>
          <a:bodyPr>
            <a:normAutofit/>
          </a:bodyPr>
          <a:lstStyle/>
          <a:p>
            <a:endParaRPr lang="en-US" i="1" dirty="0">
              <a:solidFill>
                <a:srgbClr val="0070C0"/>
              </a:solidFill>
            </a:endParaRPr>
          </a:p>
          <a:p>
            <a:r>
              <a:rPr lang="it-IT" sz="36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Compressione della morbilità e salute globale </a:t>
            </a:r>
          </a:p>
          <a:p>
            <a:endParaRPr lang="it-IT" sz="3000" i="1" dirty="0"/>
          </a:p>
          <a:p>
            <a:r>
              <a:rPr lang="en-US" sz="3000" i="1" dirty="0"/>
              <a:t>Stefano Campostrini</a:t>
            </a:r>
            <a:endParaRPr lang="en-US" sz="300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73" y="5100117"/>
            <a:ext cx="1088007" cy="1377223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5920" y="5863524"/>
            <a:ext cx="1885325" cy="79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89F7D911-0340-11ED-F53A-440F70C1E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556702" cy="416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77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CF345-9835-99D9-A96E-9C33F4882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C5A85565-073D-1463-D6B6-62E202E98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522" y="2628900"/>
            <a:ext cx="11203258" cy="26289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Una </a:t>
            </a:r>
            <a:r>
              <a:rPr lang="en-US" b="1" dirty="0" err="1">
                <a:solidFill>
                  <a:srgbClr val="0070C0"/>
                </a:solidFill>
              </a:rPr>
              <a:t>società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che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invecchia</a:t>
            </a:r>
            <a:r>
              <a:rPr lang="en-US" b="1" dirty="0">
                <a:solidFill>
                  <a:srgbClr val="0070C0"/>
                </a:solidFill>
              </a:rPr>
              <a:t>: </a:t>
            </a:r>
            <a:r>
              <a:rPr lang="en-US" b="1" dirty="0" err="1">
                <a:solidFill>
                  <a:srgbClr val="0070C0"/>
                </a:solidFill>
              </a:rPr>
              <a:t>molti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problemi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qualche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opportunità</a:t>
            </a:r>
            <a:endParaRPr lang="en-US" i="1" dirty="0">
              <a:solidFill>
                <a:srgbClr val="0070C0"/>
              </a:solidFill>
            </a:endParaRPr>
          </a:p>
          <a:p>
            <a:endParaRPr lang="en-US" i="1" dirty="0">
              <a:solidFill>
                <a:srgbClr val="0070C0"/>
              </a:solidFill>
            </a:endParaRPr>
          </a:p>
          <a:p>
            <a:r>
              <a:rPr lang="it-IT" sz="3000" b="1" dirty="0"/>
              <a:t>Il principale problema è di sostenibilità del sistema di assistenza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it-IT" sz="3000" b="1" dirty="0"/>
              <a:t>finanziaria-economica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it-IT" sz="3000" b="1" dirty="0"/>
              <a:t>di capacità di risposta ad una (crescente) domanda</a:t>
            </a:r>
          </a:p>
          <a:p>
            <a:endParaRPr lang="en-US" sz="3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AC2BF8F-6AEB-6C15-93AE-812BD6BC97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94" y="168088"/>
            <a:ext cx="883236" cy="111801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14D386A-0FFE-2DB5-3D89-664595F1F5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039" y="670727"/>
            <a:ext cx="1460875" cy="615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A5F63B26-97EF-C29B-1084-0A8C51752DC2}"/>
              </a:ext>
            </a:extLst>
          </p:cNvPr>
          <p:cNvSpPr/>
          <p:nvPr/>
        </p:nvSpPr>
        <p:spPr>
          <a:xfrm>
            <a:off x="5093677" y="5363308"/>
            <a:ext cx="5691554" cy="11840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/>
              <a:t>Quali sono le cause?</a:t>
            </a:r>
          </a:p>
          <a:p>
            <a:pPr algn="ctr"/>
            <a:r>
              <a:rPr lang="it-IT" sz="3200" dirty="0"/>
              <a:t>Come si può intervenire?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61977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asellaDiTesto 9"/>
          <p:cNvSpPr txBox="1">
            <a:spLocks noChangeArrowheads="1"/>
          </p:cNvSpPr>
          <p:nvPr/>
        </p:nvSpPr>
        <p:spPr bwMode="auto">
          <a:xfrm>
            <a:off x="3055716" y="228249"/>
            <a:ext cx="67772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it-IT" altLang="it-IT" sz="2800" b="1" dirty="0">
                <a:solidFill>
                  <a:srgbClr val="002060"/>
                </a:solidFill>
                <a:latin typeface="Calibri" panose="020F0502020204030204" pitchFamily="34" charset="0"/>
              </a:rPr>
              <a:t>La combinazione di due mega trend:</a:t>
            </a:r>
          </a:p>
        </p:txBody>
      </p:sp>
      <p:pic>
        <p:nvPicPr>
          <p:cNvPr id="22" name="Immagin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92" y="196835"/>
            <a:ext cx="558186" cy="706564"/>
          </a:xfrm>
          <a:prstGeom prst="rect">
            <a:avLst/>
          </a:prstGeom>
        </p:spPr>
      </p:pic>
      <p:pic>
        <p:nvPicPr>
          <p:cNvPr id="23" name="Immagin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493" y="196836"/>
            <a:ext cx="1392797" cy="586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Connettore 1 23"/>
          <p:cNvCxnSpPr/>
          <p:nvPr/>
        </p:nvCxnSpPr>
        <p:spPr>
          <a:xfrm flipV="1">
            <a:off x="0" y="903400"/>
            <a:ext cx="12192000" cy="10161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941723" y="1458688"/>
            <a:ext cx="5953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TRANSIZIONE EPIDEMIOLOGICA</a:t>
            </a:r>
          </a:p>
        </p:txBody>
      </p:sp>
      <p:sp>
        <p:nvSpPr>
          <p:cNvPr id="3" name="Più 2"/>
          <p:cNvSpPr/>
          <p:nvPr/>
        </p:nvSpPr>
        <p:spPr>
          <a:xfrm>
            <a:off x="5387546" y="2125362"/>
            <a:ext cx="593124" cy="510746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  <p:sp>
        <p:nvSpPr>
          <p:cNvPr id="9" name="CasellaDiTesto 8"/>
          <p:cNvSpPr txBox="1"/>
          <p:nvPr/>
        </p:nvSpPr>
        <p:spPr>
          <a:xfrm>
            <a:off x="3094122" y="2896194"/>
            <a:ext cx="5481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TRANSIZIONE DEMOGRAFICA</a:t>
            </a:r>
          </a:p>
        </p:txBody>
      </p:sp>
      <p:sp>
        <p:nvSpPr>
          <p:cNvPr id="4" name="Uguale 3"/>
          <p:cNvSpPr/>
          <p:nvPr/>
        </p:nvSpPr>
        <p:spPr>
          <a:xfrm>
            <a:off x="5309288" y="3600531"/>
            <a:ext cx="671383" cy="733168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tx1"/>
              </a:solidFill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3270049" y="4638497"/>
            <a:ext cx="52777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CRESCITA DELLA DOMANDA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9431216" y="4188646"/>
            <a:ext cx="2051538" cy="1323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sz="2000" dirty="0"/>
              <a:t>LATO OFFERTA</a:t>
            </a:r>
          </a:p>
          <a:p>
            <a:r>
              <a:rPr lang="it-IT" sz="2000" dirty="0"/>
              <a:t>Crisi personale</a:t>
            </a:r>
          </a:p>
          <a:p>
            <a:r>
              <a:rPr lang="it-IT" sz="2000" dirty="0"/>
              <a:t>Meno giovani</a:t>
            </a:r>
          </a:p>
          <a:p>
            <a:r>
              <a:rPr lang="it-IT" sz="2000" dirty="0"/>
              <a:t>…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661354" y="4342534"/>
            <a:ext cx="1841523" cy="1323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sz="1600" dirty="0"/>
              <a:t>LATO DOMANDA</a:t>
            </a:r>
          </a:p>
          <a:p>
            <a:r>
              <a:rPr lang="it-IT" sz="1600" dirty="0"/>
              <a:t>Crisi reti primarie</a:t>
            </a:r>
          </a:p>
          <a:p>
            <a:r>
              <a:rPr lang="it-IT" sz="1600" dirty="0"/>
              <a:t>Effetti demografici </a:t>
            </a:r>
          </a:p>
          <a:p>
            <a:r>
              <a:rPr lang="it-IT" sz="1600" dirty="0"/>
              <a:t>sui </a:t>
            </a:r>
            <a:r>
              <a:rPr lang="it-IT" sz="1600" dirty="0" err="1"/>
              <a:t>caregiver</a:t>
            </a:r>
            <a:endParaRPr lang="it-IT" sz="1600" dirty="0"/>
          </a:p>
          <a:p>
            <a:r>
              <a:rPr lang="it-IT" sz="1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14431268"/>
      </p:ext>
    </p:extLst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asellaDiTesto 9"/>
          <p:cNvSpPr txBox="1">
            <a:spLocks noChangeArrowheads="1"/>
          </p:cNvSpPr>
          <p:nvPr/>
        </p:nvSpPr>
        <p:spPr bwMode="auto">
          <a:xfrm>
            <a:off x="3055716" y="228249"/>
            <a:ext cx="67772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it-IT" altLang="it-IT" sz="2800" b="1" dirty="0">
                <a:solidFill>
                  <a:srgbClr val="002060"/>
                </a:solidFill>
                <a:latin typeface="Calibri" panose="020F0502020204030204" pitchFamily="34" charset="0"/>
              </a:rPr>
              <a:t>La combinazione di due mega trend:</a:t>
            </a:r>
          </a:p>
        </p:txBody>
      </p:sp>
      <p:pic>
        <p:nvPicPr>
          <p:cNvPr id="22" name="Immagin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92" y="196835"/>
            <a:ext cx="558186" cy="706564"/>
          </a:xfrm>
          <a:prstGeom prst="rect">
            <a:avLst/>
          </a:prstGeom>
        </p:spPr>
      </p:pic>
      <p:pic>
        <p:nvPicPr>
          <p:cNvPr id="23" name="Immagin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493" y="196836"/>
            <a:ext cx="1392797" cy="586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Connettore 1 23"/>
          <p:cNvCxnSpPr/>
          <p:nvPr/>
        </p:nvCxnSpPr>
        <p:spPr>
          <a:xfrm flipV="1">
            <a:off x="0" y="903400"/>
            <a:ext cx="12192000" cy="10161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941723" y="1458688"/>
            <a:ext cx="5953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TRANSIZIONE EPIDEMIOLOGICA</a:t>
            </a:r>
          </a:p>
        </p:txBody>
      </p:sp>
      <p:sp>
        <p:nvSpPr>
          <p:cNvPr id="3" name="Più 2"/>
          <p:cNvSpPr/>
          <p:nvPr/>
        </p:nvSpPr>
        <p:spPr>
          <a:xfrm>
            <a:off x="5387546" y="2125362"/>
            <a:ext cx="593124" cy="510746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  <p:sp>
        <p:nvSpPr>
          <p:cNvPr id="9" name="CasellaDiTesto 8"/>
          <p:cNvSpPr txBox="1"/>
          <p:nvPr/>
        </p:nvSpPr>
        <p:spPr>
          <a:xfrm>
            <a:off x="3094122" y="2896194"/>
            <a:ext cx="5481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TRANSIZIONE DEMOGRAFICA</a:t>
            </a:r>
          </a:p>
        </p:txBody>
      </p:sp>
      <p:sp>
        <p:nvSpPr>
          <p:cNvPr id="4" name="Uguale 3"/>
          <p:cNvSpPr/>
          <p:nvPr/>
        </p:nvSpPr>
        <p:spPr>
          <a:xfrm>
            <a:off x="5309288" y="3600531"/>
            <a:ext cx="671383" cy="733168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tx1"/>
              </a:solidFill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3270049" y="4638497"/>
            <a:ext cx="52777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CRESCITA DELLA DOMANDA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9742412" y="4342534"/>
            <a:ext cx="1354730" cy="954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it-IT" sz="1400" dirty="0"/>
              <a:t>LATO OFFERTA</a:t>
            </a:r>
          </a:p>
          <a:p>
            <a:r>
              <a:rPr lang="it-IT" sz="1400" dirty="0"/>
              <a:t>Crisi personale</a:t>
            </a:r>
          </a:p>
          <a:p>
            <a:r>
              <a:rPr lang="it-IT" sz="1400" dirty="0"/>
              <a:t>Meno giovani</a:t>
            </a:r>
          </a:p>
          <a:p>
            <a:r>
              <a:rPr lang="it-IT" sz="1400" dirty="0"/>
              <a:t>…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661354" y="4342534"/>
            <a:ext cx="1638975" cy="1169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it-IT" sz="1400" dirty="0"/>
              <a:t>LATO DOMANDA</a:t>
            </a:r>
          </a:p>
          <a:p>
            <a:r>
              <a:rPr lang="it-IT" sz="1400" dirty="0"/>
              <a:t>Crisi reti primarie</a:t>
            </a:r>
          </a:p>
          <a:p>
            <a:r>
              <a:rPr lang="it-IT" sz="1400" dirty="0"/>
              <a:t>Effetti demografici </a:t>
            </a:r>
          </a:p>
          <a:p>
            <a:r>
              <a:rPr lang="it-IT" sz="1400" dirty="0"/>
              <a:t>sui </a:t>
            </a:r>
            <a:r>
              <a:rPr lang="it-IT" sz="1400" dirty="0" err="1"/>
              <a:t>caregiver</a:t>
            </a:r>
            <a:endParaRPr lang="it-IT" sz="1400" dirty="0"/>
          </a:p>
          <a:p>
            <a:r>
              <a:rPr lang="it-IT" sz="1400" dirty="0"/>
              <a:t>…</a:t>
            </a:r>
          </a:p>
        </p:txBody>
      </p:sp>
      <p:pic>
        <p:nvPicPr>
          <p:cNvPr id="5122" name="Picture 2" descr="Il film thriller in TV: &quot;La Tempesta perfetta&quot; giovedì 11 luglio 202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760" y="2352796"/>
            <a:ext cx="7046694" cy="396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156960"/>
      </p:ext>
    </p:extLst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EC1D-BF26-1829-6910-57BE118CF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BB44B344-7C49-CD4F-4F08-0BDF012B7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160" y="1792137"/>
            <a:ext cx="11203258" cy="26289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Una </a:t>
            </a:r>
            <a:r>
              <a:rPr lang="en-US" b="1" dirty="0" err="1">
                <a:solidFill>
                  <a:srgbClr val="0070C0"/>
                </a:solidFill>
              </a:rPr>
              <a:t>domanda</a:t>
            </a:r>
            <a:r>
              <a:rPr lang="en-US" b="1" dirty="0">
                <a:solidFill>
                  <a:srgbClr val="0070C0"/>
                </a:solidFill>
              </a:rPr>
              <a:t> per TUTTI</a:t>
            </a:r>
          </a:p>
          <a:p>
            <a:endParaRPr lang="en-US" b="1" i="1" dirty="0">
              <a:solidFill>
                <a:srgbClr val="0070C0"/>
              </a:solidFill>
            </a:endParaRPr>
          </a:p>
          <a:p>
            <a:r>
              <a:rPr lang="en-US" sz="3600" b="1" i="1" dirty="0">
                <a:solidFill>
                  <a:srgbClr val="0070C0"/>
                </a:solidFill>
              </a:rPr>
              <a:t>VIVERE DI PIU’ O VIVERE MEGLIO?</a:t>
            </a:r>
            <a:endParaRPr lang="en-US" sz="3600" i="1" dirty="0">
              <a:solidFill>
                <a:srgbClr val="0070C0"/>
              </a:solidFill>
            </a:endParaRPr>
          </a:p>
          <a:p>
            <a:endParaRPr lang="en-US" i="1" dirty="0">
              <a:solidFill>
                <a:srgbClr val="0070C0"/>
              </a:solidFill>
            </a:endParaRPr>
          </a:p>
          <a:p>
            <a:endParaRPr lang="en-US" sz="3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DEAD0F-E393-5A89-A308-F0217DF9FC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94" y="168088"/>
            <a:ext cx="883236" cy="111801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0E0EC8D-4FFC-9B6A-F927-376E1AC3DE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039" y="670727"/>
            <a:ext cx="1460875" cy="615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D335A25-70F3-2044-BB65-0C4F45A50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032916" y="3358657"/>
            <a:ext cx="2627493" cy="4371193"/>
          </a:xfrm>
          <a:prstGeom prst="rect">
            <a:avLst/>
          </a:prstGeom>
        </p:spPr>
      </p:pic>
      <p:sp>
        <p:nvSpPr>
          <p:cNvPr id="8" name="Ovale 7">
            <a:extLst>
              <a:ext uri="{FF2B5EF4-FFF2-40B4-BE49-F238E27FC236}">
                <a16:creationId xmlns:a16="http://schemas.microsoft.com/office/drawing/2014/main" id="{FFDF1096-827D-E405-5074-184F81665970}"/>
              </a:ext>
            </a:extLst>
          </p:cNvPr>
          <p:cNvSpPr/>
          <p:nvPr/>
        </p:nvSpPr>
        <p:spPr>
          <a:xfrm>
            <a:off x="8195076" y="6166160"/>
            <a:ext cx="1033346" cy="4674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2008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822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6AD0C-78C9-B422-E956-3421B6FFF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7C458A7-E0C0-4582-C6CA-108948F98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185" y="594727"/>
            <a:ext cx="11203258" cy="2628900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rgbClr val="0070C0"/>
                </a:solidFill>
              </a:rPr>
              <a:t>La </a:t>
            </a:r>
            <a:r>
              <a:rPr lang="en-US" sz="3600" b="1" i="1" dirty="0" err="1">
                <a:solidFill>
                  <a:srgbClr val="0070C0"/>
                </a:solidFill>
              </a:rPr>
              <a:t>prospettiva</a:t>
            </a:r>
            <a:r>
              <a:rPr lang="en-US" sz="3600" b="1" i="1" dirty="0">
                <a:solidFill>
                  <a:srgbClr val="0070C0"/>
                </a:solidFill>
              </a:rPr>
              <a:t> della </a:t>
            </a:r>
            <a:r>
              <a:rPr lang="en-US" sz="3600" b="1" i="1" dirty="0" err="1">
                <a:solidFill>
                  <a:srgbClr val="0070C0"/>
                </a:solidFill>
              </a:rPr>
              <a:t>compressione</a:t>
            </a:r>
            <a:r>
              <a:rPr lang="en-US" sz="3600" b="1" i="1" dirty="0">
                <a:solidFill>
                  <a:srgbClr val="0070C0"/>
                </a:solidFill>
              </a:rPr>
              <a:t> della </a:t>
            </a:r>
            <a:r>
              <a:rPr lang="en-US" sz="3600" b="1" i="1" dirty="0" err="1">
                <a:solidFill>
                  <a:srgbClr val="0070C0"/>
                </a:solidFill>
              </a:rPr>
              <a:t>morbilità</a:t>
            </a:r>
            <a:r>
              <a:rPr lang="en-US" sz="3600" b="1" i="1" dirty="0">
                <a:solidFill>
                  <a:srgbClr val="0070C0"/>
                </a:solidFill>
              </a:rPr>
              <a:t>…</a:t>
            </a:r>
            <a:endParaRPr lang="en-US" sz="3600" i="1" dirty="0">
              <a:solidFill>
                <a:srgbClr val="0070C0"/>
              </a:solidFill>
            </a:endParaRPr>
          </a:p>
          <a:p>
            <a:endParaRPr lang="en-US" i="1" dirty="0">
              <a:solidFill>
                <a:srgbClr val="0070C0"/>
              </a:solidFill>
            </a:endParaRPr>
          </a:p>
          <a:p>
            <a:endParaRPr lang="en-US" sz="3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EBEA156-A476-0830-E684-1186F7035A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94" y="168088"/>
            <a:ext cx="883236" cy="1118019"/>
          </a:xfrm>
          <a:prstGeom prst="rect">
            <a:avLst/>
          </a:prstGeom>
        </p:spPr>
      </p:pic>
      <p:grpSp>
        <p:nvGrpSpPr>
          <p:cNvPr id="31" name="Gruppo 30">
            <a:extLst>
              <a:ext uri="{FF2B5EF4-FFF2-40B4-BE49-F238E27FC236}">
                <a16:creationId xmlns:a16="http://schemas.microsoft.com/office/drawing/2014/main" id="{37605841-9397-DD1C-7E1C-9E7AF8BF7199}"/>
              </a:ext>
            </a:extLst>
          </p:cNvPr>
          <p:cNvGrpSpPr/>
          <p:nvPr/>
        </p:nvGrpSpPr>
        <p:grpSpPr>
          <a:xfrm>
            <a:off x="1069675" y="1592921"/>
            <a:ext cx="6740360" cy="4304469"/>
            <a:chOff x="2712721" y="2358909"/>
            <a:chExt cx="6740360" cy="4304469"/>
          </a:xfrm>
        </p:grpSpPr>
        <p:sp>
          <p:nvSpPr>
            <p:cNvPr id="2" name="Connettore 1 2">
              <a:extLst>
                <a:ext uri="{FF2B5EF4-FFF2-40B4-BE49-F238E27FC236}">
                  <a16:creationId xmlns:a16="http://schemas.microsoft.com/office/drawing/2014/main" id="{B069A01E-5CC8-96B8-E08A-64C6F5FBCA6E}"/>
                </a:ext>
              </a:extLst>
            </p:cNvPr>
            <p:cNvSpPr/>
            <p:nvPr/>
          </p:nvSpPr>
          <p:spPr>
            <a:xfrm>
              <a:off x="3287317" y="3330459"/>
              <a:ext cx="5400676" cy="1"/>
            </a:xfrm>
            <a:prstGeom prst="line">
              <a:avLst/>
            </a:prstGeom>
            <a:ln w="6350">
              <a:solidFill>
                <a:schemeClr val="accent1"/>
              </a:solidFill>
              <a:miter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BEE2B857-3753-28CA-071A-D90B6AF2C022}"/>
                </a:ext>
              </a:extLst>
            </p:cNvPr>
            <p:cNvSpPr txBox="1"/>
            <p:nvPr/>
          </p:nvSpPr>
          <p:spPr>
            <a:xfrm>
              <a:off x="5979796" y="2358909"/>
              <a:ext cx="1042036" cy="3330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>
              <a:lvl1pPr algn="ctr">
                <a:defRPr b="1">
                  <a:solidFill>
                    <a:srgbClr val="C00000"/>
                  </a:solidFill>
                </a:defRPr>
              </a:lvl1pPr>
            </a:lstStyle>
            <a:p>
              <a:r>
                <a:rPr dirty="0" err="1"/>
                <a:t>Morbility</a:t>
              </a:r>
              <a:endParaRPr dirty="0"/>
            </a:p>
          </p:txBody>
        </p:sp>
        <p:sp>
          <p:nvSpPr>
            <p:cNvPr id="7" name="CasellaDiTesto 4">
              <a:extLst>
                <a:ext uri="{FF2B5EF4-FFF2-40B4-BE49-F238E27FC236}">
                  <a16:creationId xmlns:a16="http://schemas.microsoft.com/office/drawing/2014/main" id="{B12703BA-0FFD-B25A-0090-2EA0E13CDD9D}"/>
                </a:ext>
              </a:extLst>
            </p:cNvPr>
            <p:cNvSpPr txBox="1"/>
            <p:nvPr/>
          </p:nvSpPr>
          <p:spPr>
            <a:xfrm>
              <a:off x="7924087" y="2358909"/>
              <a:ext cx="1042036" cy="3330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>
              <a:lvl1pPr algn="ctr">
                <a:defRPr b="1">
                  <a:solidFill>
                    <a:srgbClr val="C00000"/>
                  </a:solidFill>
                </a:defRPr>
              </a:lvl1pPr>
            </a:lstStyle>
            <a:p>
              <a:r>
                <a:t>Mortality</a:t>
              </a:r>
            </a:p>
          </p:txBody>
        </p:sp>
        <p:sp>
          <p:nvSpPr>
            <p:cNvPr id="8" name="Triangolo rettangolo 6">
              <a:extLst>
                <a:ext uri="{FF2B5EF4-FFF2-40B4-BE49-F238E27FC236}">
                  <a16:creationId xmlns:a16="http://schemas.microsoft.com/office/drawing/2014/main" id="{535F0AFB-C8C5-EC3E-BA86-D2BE399EC999}"/>
                </a:ext>
              </a:extLst>
            </p:cNvPr>
            <p:cNvSpPr/>
            <p:nvPr/>
          </p:nvSpPr>
          <p:spPr>
            <a:xfrm flipH="1">
              <a:off x="6419850" y="2953031"/>
              <a:ext cx="2052639" cy="377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rgbClr val="32538F"/>
              </a:solidFill>
              <a:miter/>
            </a:ln>
          </p:spPr>
          <p:txBody>
            <a:bodyPr lIns="45719" rIns="45719" anchor="ctr"/>
            <a:lstStyle/>
            <a:p>
              <a:pPr algn="ctr" defTabSz="3429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" name="CasellaDiTesto 7">
              <a:extLst>
                <a:ext uri="{FF2B5EF4-FFF2-40B4-BE49-F238E27FC236}">
                  <a16:creationId xmlns:a16="http://schemas.microsoft.com/office/drawing/2014/main" id="{8FD301A6-B5D4-9F3E-A986-6573423B7106}"/>
                </a:ext>
              </a:extLst>
            </p:cNvPr>
            <p:cNvSpPr txBox="1"/>
            <p:nvPr/>
          </p:nvSpPr>
          <p:spPr>
            <a:xfrm>
              <a:off x="6088143" y="3492385"/>
              <a:ext cx="718186" cy="6251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>
              <a:lvl1pPr algn="ctr" defTabSz="342900">
                <a:defRPr b="1">
                  <a:solidFill>
                    <a:srgbClr val="767171"/>
                  </a:solidFill>
                </a:defRPr>
              </a:lvl1pPr>
            </a:lstStyle>
            <a:p>
              <a:r>
                <a:t>55 years</a:t>
              </a:r>
            </a:p>
          </p:txBody>
        </p:sp>
        <p:sp>
          <p:nvSpPr>
            <p:cNvPr id="10" name="Connettore 1 9">
              <a:extLst>
                <a:ext uri="{FF2B5EF4-FFF2-40B4-BE49-F238E27FC236}">
                  <a16:creationId xmlns:a16="http://schemas.microsoft.com/office/drawing/2014/main" id="{00486E7E-25B3-1C0E-34F8-2E3B6C36AB09}"/>
                </a:ext>
              </a:extLst>
            </p:cNvPr>
            <p:cNvSpPr/>
            <p:nvPr/>
          </p:nvSpPr>
          <p:spPr>
            <a:xfrm>
              <a:off x="6419850" y="3238781"/>
              <a:ext cx="0" cy="161926"/>
            </a:xfrm>
            <a:prstGeom prst="line">
              <a:avLst/>
            </a:prstGeom>
            <a:ln w="31750">
              <a:solidFill>
                <a:schemeClr val="accent1"/>
              </a:solidFill>
              <a:miter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2" name="Connettore 1 10">
              <a:extLst>
                <a:ext uri="{FF2B5EF4-FFF2-40B4-BE49-F238E27FC236}">
                  <a16:creationId xmlns:a16="http://schemas.microsoft.com/office/drawing/2014/main" id="{C36748B0-88D3-634C-9A3E-7977EB1C9A49}"/>
                </a:ext>
              </a:extLst>
            </p:cNvPr>
            <p:cNvSpPr/>
            <p:nvPr/>
          </p:nvSpPr>
          <p:spPr>
            <a:xfrm>
              <a:off x="8472488" y="3276881"/>
              <a:ext cx="1" cy="161926"/>
            </a:xfrm>
            <a:prstGeom prst="line">
              <a:avLst/>
            </a:prstGeom>
            <a:ln w="31750">
              <a:solidFill>
                <a:schemeClr val="accent1"/>
              </a:solidFill>
              <a:miter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3" name="CasellaDiTesto 11">
              <a:extLst>
                <a:ext uri="{FF2B5EF4-FFF2-40B4-BE49-F238E27FC236}">
                  <a16:creationId xmlns:a16="http://schemas.microsoft.com/office/drawing/2014/main" id="{835CB0A5-2F0F-D34E-4963-2FEADE9F2454}"/>
                </a:ext>
              </a:extLst>
            </p:cNvPr>
            <p:cNvSpPr txBox="1"/>
            <p:nvPr/>
          </p:nvSpPr>
          <p:spPr>
            <a:xfrm>
              <a:off x="8086012" y="3492385"/>
              <a:ext cx="718186" cy="6251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>
              <a:lvl1pPr algn="ctr" defTabSz="342900">
                <a:defRPr b="1">
                  <a:solidFill>
                    <a:srgbClr val="767171"/>
                  </a:solidFill>
                </a:defRPr>
              </a:lvl1pPr>
            </a:lstStyle>
            <a:p>
              <a:r>
                <a:t>84 years</a:t>
              </a:r>
            </a:p>
          </p:txBody>
        </p:sp>
        <p:sp>
          <p:nvSpPr>
            <p:cNvPr id="14" name="CasellaDiTesto 12">
              <a:extLst>
                <a:ext uri="{FF2B5EF4-FFF2-40B4-BE49-F238E27FC236}">
                  <a16:creationId xmlns:a16="http://schemas.microsoft.com/office/drawing/2014/main" id="{C6597D35-6680-D282-E37D-5ED9556AE405}"/>
                </a:ext>
              </a:extLst>
            </p:cNvPr>
            <p:cNvSpPr txBox="1"/>
            <p:nvPr/>
          </p:nvSpPr>
          <p:spPr>
            <a:xfrm>
              <a:off x="3225880" y="2953030"/>
              <a:ext cx="1798083" cy="3330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>
              <a:lvl1pPr algn="ctr" defTabSz="342900">
                <a:defRPr b="1">
                  <a:solidFill>
                    <a:srgbClr val="767171"/>
                  </a:solidFill>
                  <a:effectLst>
                    <a:outerShdw blurRad="38100" dist="38100" dir="2700000" rotWithShape="0">
                      <a:srgbClr val="000000">
                        <a:alpha val="43137"/>
                      </a:srgbClr>
                    </a:outerShdw>
                  </a:effectLst>
                </a:defRPr>
              </a:lvl1pPr>
            </a:lstStyle>
            <a:p>
              <a:r>
                <a:rPr dirty="0"/>
                <a:t>Present situation</a:t>
              </a:r>
            </a:p>
          </p:txBody>
        </p:sp>
        <p:grpSp>
          <p:nvGrpSpPr>
            <p:cNvPr id="15" name="Gruppo 1">
              <a:extLst>
                <a:ext uri="{FF2B5EF4-FFF2-40B4-BE49-F238E27FC236}">
                  <a16:creationId xmlns:a16="http://schemas.microsoft.com/office/drawing/2014/main" id="{FA33BC46-AF59-B8BC-CCD5-9C67F66245F4}"/>
                </a:ext>
              </a:extLst>
            </p:cNvPr>
            <p:cNvGrpSpPr/>
            <p:nvPr/>
          </p:nvGrpSpPr>
          <p:grpSpPr>
            <a:xfrm>
              <a:off x="2937249" y="4138716"/>
              <a:ext cx="6515832" cy="1266383"/>
              <a:chOff x="0" y="0"/>
              <a:chExt cx="6515830" cy="1266382"/>
            </a:xfrm>
          </p:grpSpPr>
          <p:sp>
            <p:nvSpPr>
              <p:cNvPr id="16" name="Connettore 1 14">
                <a:extLst>
                  <a:ext uri="{FF2B5EF4-FFF2-40B4-BE49-F238E27FC236}">
                    <a16:creationId xmlns:a16="http://schemas.microsoft.com/office/drawing/2014/main" id="{C839DC1D-9D6C-F07A-4C83-7740F65C89A0}"/>
                  </a:ext>
                </a:extLst>
              </p:cNvPr>
              <p:cNvSpPr/>
              <p:nvPr/>
            </p:nvSpPr>
            <p:spPr>
              <a:xfrm>
                <a:off x="0" y="464313"/>
                <a:ext cx="6026050" cy="1"/>
              </a:xfrm>
              <a:prstGeom prst="line">
                <a:avLst/>
              </a:prstGeom>
              <a:noFill/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7" name="Triangolo rettangolo 15">
                <a:extLst>
                  <a:ext uri="{FF2B5EF4-FFF2-40B4-BE49-F238E27FC236}">
                    <a16:creationId xmlns:a16="http://schemas.microsoft.com/office/drawing/2014/main" id="{2283AFE3-9900-2FBE-EC1A-67CDCC655318}"/>
                  </a:ext>
                </a:extLst>
              </p:cNvPr>
              <p:cNvSpPr/>
              <p:nvPr/>
            </p:nvSpPr>
            <p:spPr>
              <a:xfrm flipH="1">
                <a:off x="3494710" y="0"/>
                <a:ext cx="2524696" cy="464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342900">
                  <a:defRPr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sp>
            <p:nvSpPr>
              <p:cNvPr id="18" name="CasellaDiTesto 16">
                <a:extLst>
                  <a:ext uri="{FF2B5EF4-FFF2-40B4-BE49-F238E27FC236}">
                    <a16:creationId xmlns:a16="http://schemas.microsoft.com/office/drawing/2014/main" id="{3FA18AF4-AEFE-766E-DE14-246EC9179AB1}"/>
                  </a:ext>
                </a:extLst>
              </p:cNvPr>
              <p:cNvSpPr txBox="1"/>
              <p:nvPr/>
            </p:nvSpPr>
            <p:spPr>
              <a:xfrm>
                <a:off x="3119204" y="641193"/>
                <a:ext cx="812136" cy="6251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b="1">
                    <a:solidFill>
                      <a:srgbClr val="767171"/>
                    </a:solidFill>
                  </a:defRPr>
                </a:lvl1pPr>
              </a:lstStyle>
              <a:p>
                <a:r>
                  <a:t>55 years</a:t>
                </a:r>
              </a:p>
            </p:txBody>
          </p:sp>
          <p:sp>
            <p:nvSpPr>
              <p:cNvPr id="19" name="Connettore 1 17">
                <a:extLst>
                  <a:ext uri="{FF2B5EF4-FFF2-40B4-BE49-F238E27FC236}">
                    <a16:creationId xmlns:a16="http://schemas.microsoft.com/office/drawing/2014/main" id="{A8CEB8E2-BFD3-5164-68EE-4B16BEBC9C4A}"/>
                  </a:ext>
                </a:extLst>
              </p:cNvPr>
              <p:cNvSpPr/>
              <p:nvPr/>
            </p:nvSpPr>
            <p:spPr>
              <a:xfrm>
                <a:off x="3494710" y="364167"/>
                <a:ext cx="1" cy="176882"/>
              </a:xfrm>
              <a:prstGeom prst="line">
                <a:avLst/>
              </a:prstGeom>
              <a:noFill/>
              <a:ln w="317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" name="Connettore 1 18">
                <a:extLst>
                  <a:ext uri="{FF2B5EF4-FFF2-40B4-BE49-F238E27FC236}">
                    <a16:creationId xmlns:a16="http://schemas.microsoft.com/office/drawing/2014/main" id="{11D2BE9D-2517-33D7-CE4E-EE9D826C446B}"/>
                  </a:ext>
                </a:extLst>
              </p:cNvPr>
              <p:cNvSpPr/>
              <p:nvPr/>
            </p:nvSpPr>
            <p:spPr>
              <a:xfrm>
                <a:off x="6019406" y="405785"/>
                <a:ext cx="1" cy="176882"/>
              </a:xfrm>
              <a:prstGeom prst="line">
                <a:avLst/>
              </a:prstGeom>
              <a:noFill/>
              <a:ln w="317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1" name="CasellaDiTesto 19">
                <a:extLst>
                  <a:ext uri="{FF2B5EF4-FFF2-40B4-BE49-F238E27FC236}">
                    <a16:creationId xmlns:a16="http://schemas.microsoft.com/office/drawing/2014/main" id="{DC92CC7C-0BAB-4770-A506-60F27D289D65}"/>
                  </a:ext>
                </a:extLst>
              </p:cNvPr>
              <p:cNvSpPr txBox="1"/>
              <p:nvPr/>
            </p:nvSpPr>
            <p:spPr>
              <a:xfrm>
                <a:off x="5703695" y="641194"/>
                <a:ext cx="812136" cy="6251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b="1">
                    <a:solidFill>
                      <a:srgbClr val="767171"/>
                    </a:solidFill>
                  </a:defRPr>
                </a:lvl1pPr>
              </a:lstStyle>
              <a:p>
                <a:r>
                  <a:t>88 years</a:t>
                </a:r>
              </a:p>
            </p:txBody>
          </p:sp>
          <p:sp>
            <p:nvSpPr>
              <p:cNvPr id="22" name="CasellaDiTesto 20">
                <a:extLst>
                  <a:ext uri="{FF2B5EF4-FFF2-40B4-BE49-F238E27FC236}">
                    <a16:creationId xmlns:a16="http://schemas.microsoft.com/office/drawing/2014/main" id="{DE60BDF0-4E74-38F1-0474-2E6A5DFDFC2E}"/>
                  </a:ext>
                </a:extLst>
              </p:cNvPr>
              <p:cNvSpPr txBox="1"/>
              <p:nvPr/>
            </p:nvSpPr>
            <p:spPr>
              <a:xfrm>
                <a:off x="237913" y="52023"/>
                <a:ext cx="2433256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b="1">
                    <a:solidFill>
                      <a:srgbClr val="767171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</a:defRPr>
                </a:lvl1pPr>
              </a:lstStyle>
              <a:p>
                <a:r>
                  <a:t>Longevity perspective</a:t>
                </a:r>
              </a:p>
            </p:txBody>
          </p:sp>
        </p:grpSp>
        <p:grpSp>
          <p:nvGrpSpPr>
            <p:cNvPr id="23" name="Gruppo 5">
              <a:extLst>
                <a:ext uri="{FF2B5EF4-FFF2-40B4-BE49-F238E27FC236}">
                  <a16:creationId xmlns:a16="http://schemas.microsoft.com/office/drawing/2014/main" id="{CD5CD1A0-383F-2705-19ED-E81EB92A8932}"/>
                </a:ext>
              </a:extLst>
            </p:cNvPr>
            <p:cNvGrpSpPr/>
            <p:nvPr/>
          </p:nvGrpSpPr>
          <p:grpSpPr>
            <a:xfrm>
              <a:off x="2712721" y="5452377"/>
              <a:ext cx="6366306" cy="1211001"/>
              <a:chOff x="0" y="0"/>
              <a:chExt cx="6366305" cy="1210999"/>
            </a:xfrm>
          </p:grpSpPr>
          <p:sp>
            <p:nvSpPr>
              <p:cNvPr id="24" name="Connettore 1 21">
                <a:extLst>
                  <a:ext uri="{FF2B5EF4-FFF2-40B4-BE49-F238E27FC236}">
                    <a16:creationId xmlns:a16="http://schemas.microsoft.com/office/drawing/2014/main" id="{D749486F-B279-F5F4-760A-F080F2FF1E46}"/>
                  </a:ext>
                </a:extLst>
              </p:cNvPr>
              <p:cNvSpPr/>
              <p:nvPr/>
            </p:nvSpPr>
            <p:spPr>
              <a:xfrm>
                <a:off x="617764" y="419108"/>
                <a:ext cx="5625595" cy="1"/>
              </a:xfrm>
              <a:prstGeom prst="line">
                <a:avLst/>
              </a:prstGeom>
              <a:noFill/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5" name="Triangolo rettangolo 22">
                <a:extLst>
                  <a:ext uri="{FF2B5EF4-FFF2-40B4-BE49-F238E27FC236}">
                    <a16:creationId xmlns:a16="http://schemas.microsoft.com/office/drawing/2014/main" id="{72052B7F-112B-49BC-FD7F-8777519C4E07}"/>
                  </a:ext>
                </a:extLst>
              </p:cNvPr>
              <p:cNvSpPr/>
              <p:nvPr/>
            </p:nvSpPr>
            <p:spPr>
              <a:xfrm flipH="1">
                <a:off x="4555432" y="0"/>
                <a:ext cx="1406399" cy="4261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342900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6" name="CasellaDiTesto 23">
                <a:extLst>
                  <a:ext uri="{FF2B5EF4-FFF2-40B4-BE49-F238E27FC236}">
                    <a16:creationId xmlns:a16="http://schemas.microsoft.com/office/drawing/2014/main" id="{EDAE4787-CB1C-2D29-E5AD-D7BF59664251}"/>
                  </a:ext>
                </a:extLst>
              </p:cNvPr>
              <p:cNvSpPr txBox="1"/>
              <p:nvPr/>
            </p:nvSpPr>
            <p:spPr>
              <a:xfrm>
                <a:off x="4150954" y="585812"/>
                <a:ext cx="753145" cy="6251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b="1">
                    <a:solidFill>
                      <a:srgbClr val="767171"/>
                    </a:solidFill>
                  </a:defRPr>
                </a:lvl1pPr>
              </a:lstStyle>
              <a:p>
                <a:r>
                  <a:t>65 years</a:t>
                </a:r>
              </a:p>
            </p:txBody>
          </p:sp>
          <p:sp>
            <p:nvSpPr>
              <p:cNvPr id="27" name="Connettore 1 24">
                <a:extLst>
                  <a:ext uri="{FF2B5EF4-FFF2-40B4-BE49-F238E27FC236}">
                    <a16:creationId xmlns:a16="http://schemas.microsoft.com/office/drawing/2014/main" id="{63EF9E06-8347-C4CC-81FB-6FF1273EA278}"/>
                  </a:ext>
                </a:extLst>
              </p:cNvPr>
              <p:cNvSpPr/>
              <p:nvPr/>
            </p:nvSpPr>
            <p:spPr>
              <a:xfrm>
                <a:off x="4555432" y="319320"/>
                <a:ext cx="1" cy="159661"/>
              </a:xfrm>
              <a:prstGeom prst="line">
                <a:avLst/>
              </a:prstGeom>
              <a:noFill/>
              <a:ln w="317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8" name="Connettore 1 25">
                <a:extLst>
                  <a:ext uri="{FF2B5EF4-FFF2-40B4-BE49-F238E27FC236}">
                    <a16:creationId xmlns:a16="http://schemas.microsoft.com/office/drawing/2014/main" id="{94439CE9-255F-0A4D-AD68-29B9E7122EBB}"/>
                  </a:ext>
                </a:extLst>
              </p:cNvPr>
              <p:cNvSpPr/>
              <p:nvPr/>
            </p:nvSpPr>
            <p:spPr>
              <a:xfrm>
                <a:off x="5961831" y="373323"/>
                <a:ext cx="1" cy="159661"/>
              </a:xfrm>
              <a:prstGeom prst="line">
                <a:avLst/>
              </a:prstGeom>
              <a:noFill/>
              <a:ln w="317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9" name="CasellaDiTesto 26">
                <a:extLst>
                  <a:ext uri="{FF2B5EF4-FFF2-40B4-BE49-F238E27FC236}">
                    <a16:creationId xmlns:a16="http://schemas.microsoft.com/office/drawing/2014/main" id="{90E4BC82-31C9-2AA7-92A9-3AF5531F9378}"/>
                  </a:ext>
                </a:extLst>
              </p:cNvPr>
              <p:cNvSpPr txBox="1"/>
              <p:nvPr/>
            </p:nvSpPr>
            <p:spPr>
              <a:xfrm>
                <a:off x="5614403" y="585812"/>
                <a:ext cx="751903" cy="6251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b="1">
                    <a:solidFill>
                      <a:srgbClr val="767171"/>
                    </a:solidFill>
                  </a:defRPr>
                </a:lvl1pPr>
              </a:lstStyle>
              <a:p>
                <a:r>
                  <a:t>85 years</a:t>
                </a:r>
              </a:p>
            </p:txBody>
          </p:sp>
          <p:sp>
            <p:nvSpPr>
              <p:cNvPr id="30" name="CasellaDiTesto 27">
                <a:extLst>
                  <a:ext uri="{FF2B5EF4-FFF2-40B4-BE49-F238E27FC236}">
                    <a16:creationId xmlns:a16="http://schemas.microsoft.com/office/drawing/2014/main" id="{8B5C5E59-D0E5-D843-B736-64505CD14762}"/>
                  </a:ext>
                </a:extLst>
              </p:cNvPr>
              <p:cNvSpPr txBox="1"/>
              <p:nvPr/>
            </p:nvSpPr>
            <p:spPr>
              <a:xfrm>
                <a:off x="0" y="46959"/>
                <a:ext cx="3384841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b="1">
                    <a:solidFill>
                      <a:srgbClr val="767171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</a:defRPr>
                </a:lvl1pPr>
              </a:lstStyle>
              <a:p>
                <a:r>
                  <a:t>Morbidity compression</a:t>
                </a:r>
              </a:p>
            </p:txBody>
          </p:sp>
        </p:grpSp>
      </p:grp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BBE43111-E9F4-DA85-B2D1-E51759A8B4DD}"/>
              </a:ext>
            </a:extLst>
          </p:cNvPr>
          <p:cNvSpPr txBox="1"/>
          <p:nvPr/>
        </p:nvSpPr>
        <p:spPr>
          <a:xfrm>
            <a:off x="2889849" y="6172217"/>
            <a:ext cx="944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Fries, J.F. (1980). “Aging, Natural Death, and the </a:t>
            </a:r>
            <a:r>
              <a:rPr lang="it-IT" sz="1400" dirty="0" err="1"/>
              <a:t>Compression</a:t>
            </a:r>
            <a:r>
              <a:rPr lang="it-IT" sz="1400" dirty="0"/>
              <a:t> of </a:t>
            </a:r>
            <a:r>
              <a:rPr lang="it-IT" sz="1400" dirty="0" err="1"/>
              <a:t>Morbidity</a:t>
            </a:r>
            <a:r>
              <a:rPr lang="it-IT" sz="1400" dirty="0"/>
              <a:t>.” </a:t>
            </a:r>
            <a:r>
              <a:rPr lang="it-IT" sz="1400" i="1" dirty="0"/>
              <a:t>New England Journal of Medicine</a:t>
            </a:r>
            <a:r>
              <a:rPr lang="it-IT" sz="1400" dirty="0"/>
              <a:t>, 303(3), 130–135</a:t>
            </a:r>
          </a:p>
          <a:p>
            <a:r>
              <a:rPr lang="it-IT" sz="1400" dirty="0"/>
              <a:t>Fries, J.F. (1990). “The </a:t>
            </a:r>
            <a:r>
              <a:rPr lang="it-IT" sz="1400" dirty="0" err="1"/>
              <a:t>Compression</a:t>
            </a:r>
            <a:r>
              <a:rPr lang="it-IT" sz="1400" dirty="0"/>
              <a:t> of </a:t>
            </a:r>
            <a:r>
              <a:rPr lang="it-IT" sz="1400" dirty="0" err="1"/>
              <a:t>Morbidity</a:t>
            </a:r>
            <a:r>
              <a:rPr lang="it-IT" sz="1400" dirty="0"/>
              <a:t>: Progress and </a:t>
            </a:r>
            <a:r>
              <a:rPr lang="it-IT" sz="1400" dirty="0" err="1"/>
              <a:t>Potential</a:t>
            </a:r>
            <a:r>
              <a:rPr lang="it-IT" sz="1400" dirty="0"/>
              <a:t>.” </a:t>
            </a:r>
            <a:r>
              <a:rPr lang="it-IT" sz="1400" i="1" dirty="0"/>
              <a:t>Journal of Insurance Medicine</a:t>
            </a:r>
            <a:r>
              <a:rPr lang="it-IT" sz="1400" dirty="0"/>
              <a:t>, 22(2), 91–97.</a:t>
            </a: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10D3DCC4-435A-05C1-156E-A66465344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102" y="2701837"/>
            <a:ext cx="3219899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87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ruppo 13"/>
          <p:cNvGrpSpPr/>
          <p:nvPr/>
        </p:nvGrpSpPr>
        <p:grpSpPr>
          <a:xfrm>
            <a:off x="1412507" y="2071688"/>
            <a:ext cx="4563633" cy="2979146"/>
            <a:chOff x="0" y="0"/>
            <a:chExt cx="4563632" cy="2979145"/>
          </a:xfrm>
        </p:grpSpPr>
        <p:sp>
          <p:nvSpPr>
            <p:cNvPr id="186" name="Connettore 1 2"/>
            <p:cNvSpPr/>
            <p:nvPr/>
          </p:nvSpPr>
          <p:spPr>
            <a:xfrm>
              <a:off x="230001" y="810494"/>
              <a:ext cx="3945331" cy="1"/>
            </a:xfrm>
            <a:prstGeom prst="line">
              <a:avLst/>
            </a:prstGeom>
            <a:noFill/>
            <a:ln w="635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7" name="CasellaDiTesto 3"/>
            <p:cNvSpPr txBox="1"/>
            <p:nvPr/>
          </p:nvSpPr>
          <p:spPr>
            <a:xfrm>
              <a:off x="2209246" y="0"/>
              <a:ext cx="736593" cy="1861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700" b="1">
                  <a:solidFill>
                    <a:srgbClr val="C00000"/>
                  </a:solidFill>
                </a:defRPr>
              </a:lvl1pPr>
            </a:lstStyle>
            <a:p>
              <a:r>
                <a:t>Morbility</a:t>
              </a:r>
            </a:p>
          </p:txBody>
        </p:sp>
        <p:sp>
          <p:nvSpPr>
            <p:cNvPr id="188" name="CasellaDiTesto 4"/>
            <p:cNvSpPr txBox="1"/>
            <p:nvPr/>
          </p:nvSpPr>
          <p:spPr>
            <a:xfrm>
              <a:off x="3629599" y="0"/>
              <a:ext cx="736593" cy="1861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700" b="1">
                  <a:solidFill>
                    <a:srgbClr val="C00000"/>
                  </a:solidFill>
                </a:defRPr>
              </a:lvl1pPr>
            </a:lstStyle>
            <a:p>
              <a:r>
                <a:t>Mortality</a:t>
              </a:r>
            </a:p>
          </p:txBody>
        </p:sp>
        <p:sp>
          <p:nvSpPr>
            <p:cNvPr id="189" name="Triangolo rettangolo 6"/>
            <p:cNvSpPr/>
            <p:nvPr/>
          </p:nvSpPr>
          <p:spPr>
            <a:xfrm flipH="1">
              <a:off x="2518397" y="495633"/>
              <a:ext cx="1499504" cy="31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342900">
                <a:defRPr sz="7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0" name="CasellaDiTesto 7"/>
            <p:cNvSpPr txBox="1"/>
            <p:nvPr/>
          </p:nvSpPr>
          <p:spPr>
            <a:xfrm>
              <a:off x="2288395" y="945576"/>
              <a:ext cx="500013" cy="1861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 defTabSz="342900">
                <a:defRPr sz="700" b="1">
                  <a:solidFill>
                    <a:srgbClr val="767171"/>
                  </a:solidFill>
                </a:defRPr>
              </a:lvl1pPr>
            </a:lstStyle>
            <a:p>
              <a:r>
                <a:t>55 years</a:t>
              </a:r>
            </a:p>
          </p:txBody>
        </p:sp>
        <p:sp>
          <p:nvSpPr>
            <p:cNvPr id="191" name="Connettore 1 9"/>
            <p:cNvSpPr/>
            <p:nvPr/>
          </p:nvSpPr>
          <p:spPr>
            <a:xfrm>
              <a:off x="2518396" y="734014"/>
              <a:ext cx="1" cy="135083"/>
            </a:xfrm>
            <a:prstGeom prst="line">
              <a:avLst/>
            </a:prstGeom>
            <a:noFill/>
            <a:ln w="3175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2" name="Connettore 1 10"/>
            <p:cNvSpPr/>
            <p:nvPr/>
          </p:nvSpPr>
          <p:spPr>
            <a:xfrm>
              <a:off x="4017900" y="765798"/>
              <a:ext cx="1" cy="135083"/>
            </a:xfrm>
            <a:prstGeom prst="line">
              <a:avLst/>
            </a:prstGeom>
            <a:noFill/>
            <a:ln w="3175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3" name="CasellaDiTesto 11"/>
            <p:cNvSpPr txBox="1"/>
            <p:nvPr/>
          </p:nvSpPr>
          <p:spPr>
            <a:xfrm>
              <a:off x="3747889" y="945576"/>
              <a:ext cx="500013" cy="1861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 defTabSz="342900">
                <a:defRPr sz="700" b="1">
                  <a:solidFill>
                    <a:srgbClr val="767171"/>
                  </a:solidFill>
                </a:defRPr>
              </a:lvl1pPr>
            </a:lstStyle>
            <a:p>
              <a:r>
                <a:t>84 years</a:t>
              </a:r>
            </a:p>
          </p:txBody>
        </p:sp>
        <p:sp>
          <p:nvSpPr>
            <p:cNvPr id="194" name="CasellaDiTesto 12"/>
            <p:cNvSpPr txBox="1"/>
            <p:nvPr/>
          </p:nvSpPr>
          <p:spPr>
            <a:xfrm>
              <a:off x="197441" y="495633"/>
              <a:ext cx="1288905" cy="1861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 defTabSz="342900">
                <a:defRPr sz="700" b="1">
                  <a:solidFill>
                    <a:srgbClr val="767171"/>
                  </a:solidFill>
                  <a:effectLst>
                    <a:outerShdw blurRad="38100" dist="38100" dir="2700000" rotWithShape="0">
                      <a:srgbClr val="000000">
                        <a:alpha val="43137"/>
                      </a:srgbClr>
                    </a:outerShdw>
                  </a:effectLst>
                </a:defRPr>
              </a:lvl1pPr>
            </a:lstStyle>
            <a:p>
              <a:r>
                <a:t>Present situation</a:t>
              </a:r>
            </a:p>
          </p:txBody>
        </p:sp>
        <p:grpSp>
          <p:nvGrpSpPr>
            <p:cNvPr id="202" name="Gruppo 1"/>
            <p:cNvGrpSpPr/>
            <p:nvPr/>
          </p:nvGrpSpPr>
          <p:grpSpPr>
            <a:xfrm>
              <a:off x="280940" y="1350826"/>
              <a:ext cx="4282693" cy="675796"/>
              <a:chOff x="0" y="0"/>
              <a:chExt cx="4282692" cy="675794"/>
            </a:xfrm>
          </p:grpSpPr>
          <p:sp>
            <p:nvSpPr>
              <p:cNvPr id="195" name="Connettore 1 14"/>
              <p:cNvSpPr/>
              <p:nvPr/>
            </p:nvSpPr>
            <p:spPr>
              <a:xfrm>
                <a:off x="33429" y="354592"/>
                <a:ext cx="3944461" cy="1"/>
              </a:xfrm>
              <a:prstGeom prst="line">
                <a:avLst/>
              </a:prstGeom>
              <a:noFill/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6" name="Triangolo rettangolo 15"/>
              <p:cNvSpPr/>
              <p:nvPr/>
            </p:nvSpPr>
            <p:spPr>
              <a:xfrm flipH="1">
                <a:off x="2320956" y="0"/>
                <a:ext cx="1652586" cy="3545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342900">
                  <a:defRPr sz="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97" name="CasellaDiTesto 16"/>
              <p:cNvSpPr txBox="1"/>
              <p:nvPr/>
            </p:nvSpPr>
            <p:spPr>
              <a:xfrm>
                <a:off x="2090955" y="489673"/>
                <a:ext cx="500013" cy="1861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sz="700" b="1">
                    <a:solidFill>
                      <a:srgbClr val="767171"/>
                    </a:solidFill>
                  </a:defRPr>
                </a:lvl1pPr>
              </a:lstStyle>
              <a:p>
                <a:r>
                  <a:t>55 years</a:t>
                </a:r>
              </a:p>
            </p:txBody>
          </p:sp>
          <p:sp>
            <p:nvSpPr>
              <p:cNvPr id="198" name="Connettore 1 17"/>
              <p:cNvSpPr/>
              <p:nvPr/>
            </p:nvSpPr>
            <p:spPr>
              <a:xfrm>
                <a:off x="2320955" y="278111"/>
                <a:ext cx="1" cy="135083"/>
              </a:xfrm>
              <a:prstGeom prst="line">
                <a:avLst/>
              </a:prstGeom>
              <a:noFill/>
              <a:ln w="317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9" name="Connettore 1 18"/>
              <p:cNvSpPr/>
              <p:nvPr/>
            </p:nvSpPr>
            <p:spPr>
              <a:xfrm>
                <a:off x="3973541" y="309895"/>
                <a:ext cx="1" cy="135083"/>
              </a:xfrm>
              <a:prstGeom prst="line">
                <a:avLst/>
              </a:prstGeom>
              <a:noFill/>
              <a:ln w="317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0" name="CasellaDiTesto 19"/>
              <p:cNvSpPr txBox="1"/>
              <p:nvPr/>
            </p:nvSpPr>
            <p:spPr>
              <a:xfrm>
                <a:off x="3782680" y="489674"/>
                <a:ext cx="500013" cy="1861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sz="700" b="1">
                    <a:solidFill>
                      <a:srgbClr val="767171"/>
                    </a:solidFill>
                  </a:defRPr>
                </a:lvl1pPr>
              </a:lstStyle>
              <a:p>
                <a:r>
                  <a:t>88 years</a:t>
                </a:r>
              </a:p>
            </p:txBody>
          </p:sp>
          <p:sp>
            <p:nvSpPr>
              <p:cNvPr id="201" name="CasellaDiTesto 20"/>
              <p:cNvSpPr txBox="1"/>
              <p:nvPr/>
            </p:nvSpPr>
            <p:spPr>
              <a:xfrm>
                <a:off x="0" y="39731"/>
                <a:ext cx="1288903" cy="1861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sz="700" b="1">
                    <a:solidFill>
                      <a:srgbClr val="767171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</a:defRPr>
                </a:lvl1pPr>
              </a:lstStyle>
              <a:p>
                <a:r>
                  <a:t>Longevity perspective</a:t>
                </a:r>
              </a:p>
            </p:txBody>
          </p:sp>
        </p:grpSp>
        <p:grpSp>
          <p:nvGrpSpPr>
            <p:cNvPr id="210" name="Gruppo 5"/>
            <p:cNvGrpSpPr/>
            <p:nvPr/>
          </p:nvGrpSpPr>
          <p:grpSpPr>
            <a:xfrm>
              <a:off x="-1" y="2297392"/>
              <a:ext cx="4327053" cy="681754"/>
              <a:chOff x="0" y="0"/>
              <a:chExt cx="4327051" cy="681752"/>
            </a:xfrm>
          </p:grpSpPr>
          <p:sp>
            <p:nvSpPr>
              <p:cNvPr id="203" name="Connettore 1 21"/>
              <p:cNvSpPr/>
              <p:nvPr/>
            </p:nvSpPr>
            <p:spPr>
              <a:xfrm>
                <a:off x="309150" y="354590"/>
                <a:ext cx="3945332" cy="1"/>
              </a:xfrm>
              <a:prstGeom prst="line">
                <a:avLst/>
              </a:prstGeom>
              <a:noFill/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4" name="Triangolo rettangolo 22"/>
              <p:cNvSpPr/>
              <p:nvPr/>
            </p:nvSpPr>
            <p:spPr>
              <a:xfrm flipH="1">
                <a:off x="3070708" y="0"/>
                <a:ext cx="986333" cy="3605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342900">
                  <a:defRPr sz="7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05" name="CasellaDiTesto 23"/>
              <p:cNvSpPr txBox="1"/>
              <p:nvPr/>
            </p:nvSpPr>
            <p:spPr>
              <a:xfrm>
                <a:off x="2800697" y="495633"/>
                <a:ext cx="500883" cy="1861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sz="700" b="1">
                    <a:solidFill>
                      <a:srgbClr val="767171"/>
                    </a:solidFill>
                  </a:defRPr>
                </a:lvl1pPr>
              </a:lstStyle>
              <a:p>
                <a:r>
                  <a:t>65 years</a:t>
                </a:r>
              </a:p>
            </p:txBody>
          </p:sp>
          <p:sp>
            <p:nvSpPr>
              <p:cNvPr id="206" name="Connettore 1 24"/>
              <p:cNvSpPr/>
              <p:nvPr/>
            </p:nvSpPr>
            <p:spPr>
              <a:xfrm>
                <a:off x="3070708" y="270164"/>
                <a:ext cx="1" cy="135083"/>
              </a:xfrm>
              <a:prstGeom prst="line">
                <a:avLst/>
              </a:prstGeom>
              <a:noFill/>
              <a:ln w="317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7" name="Connettore 1 25"/>
              <p:cNvSpPr/>
              <p:nvPr/>
            </p:nvSpPr>
            <p:spPr>
              <a:xfrm>
                <a:off x="4057041" y="315854"/>
                <a:ext cx="1" cy="135083"/>
              </a:xfrm>
              <a:prstGeom prst="line">
                <a:avLst/>
              </a:prstGeom>
              <a:noFill/>
              <a:ln w="317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08" name="CasellaDiTesto 26"/>
              <p:cNvSpPr txBox="1"/>
              <p:nvPr/>
            </p:nvSpPr>
            <p:spPr>
              <a:xfrm>
                <a:off x="3827039" y="495633"/>
                <a:ext cx="500013" cy="1861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sz="700" b="1">
                    <a:solidFill>
                      <a:srgbClr val="767171"/>
                    </a:solidFill>
                  </a:defRPr>
                </a:lvl1pPr>
              </a:lstStyle>
              <a:p>
                <a:r>
                  <a:t>85 years</a:t>
                </a:r>
              </a:p>
            </p:txBody>
          </p:sp>
          <p:sp>
            <p:nvSpPr>
              <p:cNvPr id="209" name="CasellaDiTesto 27"/>
              <p:cNvSpPr txBox="1"/>
              <p:nvPr/>
            </p:nvSpPr>
            <p:spPr>
              <a:xfrm>
                <a:off x="0" y="39731"/>
                <a:ext cx="1762935" cy="1861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 defTabSz="342900">
                  <a:defRPr sz="700" b="1">
                    <a:solidFill>
                      <a:srgbClr val="767171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</a:defRPr>
                </a:lvl1pPr>
              </a:lstStyle>
              <a:p>
                <a:r>
                  <a:t>Morbidity compression</a:t>
                </a:r>
              </a:p>
            </p:txBody>
          </p:sp>
        </p:grpSp>
      </p:grpSp>
      <p:sp>
        <p:nvSpPr>
          <p:cNvPr id="212" name="Titolo 1"/>
          <p:cNvSpPr txBox="1"/>
          <p:nvPr/>
        </p:nvSpPr>
        <p:spPr>
          <a:xfrm>
            <a:off x="1770844" y="967178"/>
            <a:ext cx="8650311" cy="669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457200">
              <a:defRPr sz="2400">
                <a:solidFill>
                  <a:srgbClr val="C55A11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Le rilevanti domande (tecniche) legate alla compressione della morbilità</a:t>
            </a:r>
          </a:p>
        </p:txBody>
      </p:sp>
      <p:sp>
        <p:nvSpPr>
          <p:cNvPr id="213" name="Line 2"/>
          <p:cNvSpPr/>
          <p:nvPr/>
        </p:nvSpPr>
        <p:spPr>
          <a:xfrm>
            <a:off x="2667000" y="1646635"/>
            <a:ext cx="6858001" cy="1191"/>
          </a:xfrm>
          <a:prstGeom prst="line">
            <a:avLst/>
          </a:prstGeom>
          <a:ln w="12600">
            <a:solidFill>
              <a:srgbClr val="C3004A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16" name="Rettangolo arrotondato 29"/>
          <p:cNvGrpSpPr/>
          <p:nvPr/>
        </p:nvGrpSpPr>
        <p:grpSpPr>
          <a:xfrm>
            <a:off x="6312244" y="3595039"/>
            <a:ext cx="3855309" cy="1889818"/>
            <a:chOff x="0" y="0"/>
            <a:chExt cx="3855308" cy="1889817"/>
          </a:xfrm>
        </p:grpSpPr>
        <p:sp>
          <p:nvSpPr>
            <p:cNvPr id="214" name="Rounded Rectangle"/>
            <p:cNvSpPr/>
            <p:nvPr/>
          </p:nvSpPr>
          <p:spPr>
            <a:xfrm>
              <a:off x="0" y="0"/>
              <a:ext cx="3855309" cy="188981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600"/>
                </a:spcBef>
                <a:defRPr sz="21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5" name="Quando inizia la “cronicità”?…"/>
            <p:cNvSpPr txBox="1"/>
            <p:nvPr/>
          </p:nvSpPr>
          <p:spPr>
            <a:xfrm>
              <a:off x="144323" y="192019"/>
              <a:ext cx="3566662" cy="15057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257175" indent="-257175">
                <a:spcBef>
                  <a:spcPts val="600"/>
                </a:spcBef>
                <a:buSzPct val="100000"/>
                <a:buAutoNum type="arabicPeriod"/>
                <a:defRPr sz="2100">
                  <a:solidFill>
                    <a:srgbClr val="FFFFFF"/>
                  </a:solidFill>
                </a:defRPr>
              </a:pPr>
              <a:r>
                <a:t>Quando inizia la “cronicità”?</a:t>
              </a:r>
            </a:p>
            <a:p>
              <a:pPr marL="257175" indent="-257175">
                <a:spcBef>
                  <a:spcPts val="600"/>
                </a:spcBef>
                <a:buSzPct val="100000"/>
                <a:buAutoNum type="arabicPeriod"/>
                <a:defRPr sz="2100">
                  <a:solidFill>
                    <a:srgbClr val="FFFFFF"/>
                  </a:solidFill>
                </a:defRPr>
              </a:pPr>
              <a:r>
                <a:t>Come inizia ed evolve?</a:t>
              </a:r>
            </a:p>
            <a:p>
              <a:pPr marL="257175" indent="-257175">
                <a:spcBef>
                  <a:spcPts val="600"/>
                </a:spcBef>
                <a:buSzPct val="100000"/>
                <a:buAutoNum type="arabicPeriod"/>
                <a:defRPr sz="2100">
                  <a:solidFill>
                    <a:srgbClr val="FFFFFF"/>
                  </a:solidFill>
                </a:defRPr>
              </a:pPr>
              <a:r>
                <a:t> Fattori differenziali per sottogruppi di popolazione</a:t>
              </a:r>
            </a:p>
          </p:txBody>
        </p:sp>
      </p:grpSp>
      <p:pic>
        <p:nvPicPr>
          <p:cNvPr id="221" name="object 6" descr="objec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184" y="279825"/>
            <a:ext cx="1214348" cy="475244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33DBF2F-38FC-21F2-88C7-9D54F9382080}"/>
              </a:ext>
            </a:extLst>
          </p:cNvPr>
          <p:cNvSpPr txBox="1"/>
          <p:nvPr/>
        </p:nvSpPr>
        <p:spPr>
          <a:xfrm>
            <a:off x="1416365" y="6392686"/>
            <a:ext cx="60945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0" i="0" dirty="0">
                <a:solidFill>
                  <a:schemeClr val="tx1"/>
                </a:solidFill>
                <a:effectLst/>
                <a:latin typeface="+mn-lt"/>
              </a:rPr>
              <a:t>Demuru E, Egidi V (2016) </a:t>
            </a:r>
            <a:r>
              <a:rPr lang="it-IT" sz="1100" b="0" i="0" dirty="0" err="1">
                <a:solidFill>
                  <a:schemeClr val="tx1"/>
                </a:solidFill>
                <a:effectLst/>
                <a:latin typeface="+mn-lt"/>
              </a:rPr>
              <a:t>Adjusting</a:t>
            </a:r>
            <a:r>
              <a:rPr lang="it-IT" sz="11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it-IT" sz="1100" b="0" i="0" dirty="0" err="1">
                <a:solidFill>
                  <a:schemeClr val="tx1"/>
                </a:solidFill>
                <a:effectLst/>
                <a:latin typeface="+mn-lt"/>
              </a:rPr>
              <a:t>prospective</a:t>
            </a:r>
            <a:r>
              <a:rPr lang="it-IT" sz="11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it-IT" sz="1100" b="0" i="0" dirty="0" err="1">
                <a:solidFill>
                  <a:schemeClr val="tx1"/>
                </a:solidFill>
                <a:effectLst/>
                <a:latin typeface="+mn-lt"/>
              </a:rPr>
              <a:t>old</a:t>
            </a:r>
            <a:r>
              <a:rPr lang="it-IT" sz="1100" b="0" i="0" dirty="0">
                <a:solidFill>
                  <a:schemeClr val="tx1"/>
                </a:solidFill>
                <a:effectLst/>
                <a:latin typeface="+mn-lt"/>
              </a:rPr>
              <a:t>-age </a:t>
            </a:r>
            <a:r>
              <a:rPr lang="it-IT" sz="1100" b="0" i="0" dirty="0" err="1">
                <a:solidFill>
                  <a:schemeClr val="tx1"/>
                </a:solidFill>
                <a:effectLst/>
                <a:latin typeface="+mn-lt"/>
              </a:rPr>
              <a:t>thresholds</a:t>
            </a:r>
            <a:r>
              <a:rPr lang="it-IT" sz="1100" b="0" i="0" dirty="0">
                <a:solidFill>
                  <a:schemeClr val="tx1"/>
                </a:solidFill>
                <a:effectLst/>
                <a:latin typeface="+mn-lt"/>
              </a:rPr>
              <a:t> by health status: </a:t>
            </a:r>
            <a:r>
              <a:rPr lang="it-IT" sz="1100" b="0" i="0" dirty="0" err="1">
                <a:solidFill>
                  <a:schemeClr val="tx1"/>
                </a:solidFill>
                <a:effectLst/>
                <a:latin typeface="+mn-lt"/>
              </a:rPr>
              <a:t>empirical</a:t>
            </a:r>
            <a:r>
              <a:rPr lang="it-IT" sz="11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it-IT" sz="1100" b="0" i="0" dirty="0" err="1">
                <a:solidFill>
                  <a:schemeClr val="tx1"/>
                </a:solidFill>
                <a:effectLst/>
                <a:latin typeface="+mn-lt"/>
              </a:rPr>
              <a:t>findings</a:t>
            </a:r>
            <a:r>
              <a:rPr lang="it-IT" sz="1100" b="0" i="0" dirty="0">
                <a:solidFill>
                  <a:schemeClr val="tx1"/>
                </a:solidFill>
                <a:effectLst/>
                <a:latin typeface="+mn-lt"/>
              </a:rPr>
              <a:t> and </a:t>
            </a:r>
            <a:r>
              <a:rPr lang="it-IT" sz="1100" b="0" i="0" dirty="0" err="1">
                <a:solidFill>
                  <a:schemeClr val="tx1"/>
                </a:solidFill>
                <a:effectLst/>
                <a:latin typeface="+mn-lt"/>
              </a:rPr>
              <a:t>implications</a:t>
            </a:r>
            <a:r>
              <a:rPr lang="it-IT" sz="1100" b="0" i="0" dirty="0">
                <a:solidFill>
                  <a:schemeClr val="tx1"/>
                </a:solidFill>
                <a:effectLst/>
                <a:latin typeface="+mn-lt"/>
              </a:rPr>
              <a:t>. A case study of Italy. Vienna </a:t>
            </a:r>
            <a:r>
              <a:rPr lang="it-IT" sz="1100" b="0" i="0" dirty="0" err="1">
                <a:solidFill>
                  <a:schemeClr val="tx1"/>
                </a:solidFill>
                <a:effectLst/>
                <a:latin typeface="+mn-lt"/>
              </a:rPr>
              <a:t>Yearb</a:t>
            </a:r>
            <a:r>
              <a:rPr lang="it-IT" sz="11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it-IT" sz="1100" b="0" i="0" dirty="0" err="1">
                <a:solidFill>
                  <a:schemeClr val="tx1"/>
                </a:solidFill>
                <a:effectLst/>
                <a:latin typeface="+mn-lt"/>
              </a:rPr>
              <a:t>Popul</a:t>
            </a:r>
            <a:r>
              <a:rPr lang="it-IT" sz="1100" b="0" i="0" dirty="0">
                <a:solidFill>
                  <a:schemeClr val="tx1"/>
                </a:solidFill>
                <a:effectLst/>
                <a:latin typeface="+mn-lt"/>
              </a:rPr>
              <a:t> Res 14:131–154</a:t>
            </a:r>
            <a:endParaRPr lang="it-IT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138;p22"/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>
            <a:normAutofit fontScale="90000"/>
          </a:bodyPr>
          <a:lstStyle>
            <a:lvl1pPr>
              <a:defRPr sz="3900"/>
            </a:lvl1pPr>
          </a:lstStyle>
          <a:p>
            <a:r>
              <a:t>I nostri dati: indagine PASSI </a:t>
            </a:r>
          </a:p>
        </p:txBody>
      </p:sp>
      <p:sp>
        <p:nvSpPr>
          <p:cNvPr id="257" name="Google Shape;139;p22"/>
          <p:cNvSpPr txBox="1">
            <a:spLocks noGrp="1"/>
          </p:cNvSpPr>
          <p:nvPr>
            <p:ph type="body" idx="1"/>
          </p:nvPr>
        </p:nvSpPr>
        <p:spPr>
          <a:xfrm>
            <a:off x="415599" y="1536632"/>
            <a:ext cx="11360802" cy="4555202"/>
          </a:xfrm>
          <a:prstGeom prst="rect">
            <a:avLst/>
          </a:prstGeom>
        </p:spPr>
        <p:txBody>
          <a:bodyPr lIns="121899" tIns="121899" rIns="121899" bIns="121899"/>
          <a:lstStyle>
            <a:lvl1pPr marL="0" indent="0">
              <a:buSzTx/>
              <a:buNone/>
            </a:lvl1pPr>
          </a:lstStyle>
          <a:p>
            <a:r>
              <a:t>Sistema Italiano di sorveglianza di comportamenti e fattori di rischio</a:t>
            </a:r>
          </a:p>
        </p:txBody>
      </p:sp>
      <p:sp>
        <p:nvSpPr>
          <p:cNvPr id="258" name="Google Shape;140;p22"/>
          <p:cNvSpPr txBox="1">
            <a:spLocks noGrp="1"/>
          </p:cNvSpPr>
          <p:nvPr>
            <p:ph type="sldNum" sz="quarter" idx="4294967295"/>
          </p:nvPr>
        </p:nvSpPr>
        <p:spPr>
          <a:xfrm>
            <a:off x="11694469" y="6279690"/>
            <a:ext cx="333743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pic>
        <p:nvPicPr>
          <p:cNvPr id="259" name="Google Shape;141;p22" descr="Google Shape;141;p22"/>
          <p:cNvPicPr>
            <a:picLocks noChangeAspect="1"/>
          </p:cNvPicPr>
          <p:nvPr/>
        </p:nvPicPr>
        <p:blipFill>
          <a:blip r:embed="rId2"/>
          <a:srcRect t="15994"/>
          <a:stretch>
            <a:fillRect/>
          </a:stretch>
        </p:blipFill>
        <p:spPr>
          <a:xfrm>
            <a:off x="415600" y="2945133"/>
            <a:ext cx="7140702" cy="32740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Google Shape;142;p22" descr="Google Shape;142;p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933" y="2151001"/>
            <a:ext cx="2948768" cy="45115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147;p23"/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>
            <a:normAutofit fontScale="90000"/>
          </a:bodyPr>
          <a:lstStyle>
            <a:lvl1pPr>
              <a:defRPr sz="3900"/>
            </a:lvl1pPr>
          </a:lstStyle>
          <a:p>
            <a:r>
              <a:t>Morbidity curve</a:t>
            </a:r>
          </a:p>
        </p:txBody>
      </p:sp>
      <p:sp>
        <p:nvSpPr>
          <p:cNvPr id="263" name="Google Shape;148;p23"/>
          <p:cNvSpPr txBox="1">
            <a:spLocks noGrp="1"/>
          </p:cNvSpPr>
          <p:nvPr>
            <p:ph type="body" idx="1"/>
          </p:nvPr>
        </p:nvSpPr>
        <p:spPr>
          <a:xfrm>
            <a:off x="415599" y="1536632"/>
            <a:ext cx="11360802" cy="4555202"/>
          </a:xfrm>
          <a:prstGeom prst="rect">
            <a:avLst/>
          </a:prstGeom>
        </p:spPr>
        <p:txBody>
          <a:bodyPr lIns="121899" tIns="121899" rIns="121899" bIns="121899"/>
          <a:lstStyle/>
          <a:p>
            <a:pPr marL="0" indent="0">
              <a:buSzTx/>
              <a:buNone/>
            </a:pPr>
            <a:r>
              <a:t>La curva di morbilità riflette la relazione tra età e probabilità di </a:t>
            </a:r>
            <a:r>
              <a:rPr b="1"/>
              <a:t>non essere in salute</a:t>
            </a:r>
            <a:r>
              <a:t> per un individuo in una certa popolazione</a:t>
            </a:r>
          </a:p>
        </p:txBody>
      </p:sp>
      <p:sp>
        <p:nvSpPr>
          <p:cNvPr id="264" name="Google Shape;149;p23"/>
          <p:cNvSpPr txBox="1">
            <a:spLocks noGrp="1"/>
          </p:cNvSpPr>
          <p:nvPr>
            <p:ph type="sldNum" sz="quarter" idx="4294967295"/>
          </p:nvPr>
        </p:nvSpPr>
        <p:spPr>
          <a:xfrm>
            <a:off x="11694469" y="6279690"/>
            <a:ext cx="333743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pic>
        <p:nvPicPr>
          <p:cNvPr id="265" name="Google Shape;150;p23" descr="Google Shape;150;p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766" y="2641233"/>
            <a:ext cx="8373135" cy="38626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A8FF4-5044-3170-FF86-B5D663D3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147;p23">
            <a:extLst>
              <a:ext uri="{FF2B5EF4-FFF2-40B4-BE49-F238E27FC236}">
                <a16:creationId xmlns:a16="http://schemas.microsoft.com/office/drawing/2014/main" id="{97ED706E-8B03-5D6A-1547-761FD7AF16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>
            <a:normAutofit fontScale="90000"/>
          </a:bodyPr>
          <a:lstStyle>
            <a:lvl1pPr>
              <a:defRPr sz="3900"/>
            </a:lvl1pPr>
          </a:lstStyle>
          <a:p>
            <a:r>
              <a:rPr lang="it-IT" b="1" dirty="0">
                <a:solidFill>
                  <a:schemeClr val="accent1">
                    <a:lumMod val="50000"/>
                  </a:schemeClr>
                </a:solidFill>
              </a:rPr>
              <a:t>NOTA METODOLOGICA</a:t>
            </a:r>
            <a:endParaRPr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3" name="Google Shape;148;p23">
            <a:extLst>
              <a:ext uri="{FF2B5EF4-FFF2-40B4-BE49-F238E27FC236}">
                <a16:creationId xmlns:a16="http://schemas.microsoft.com/office/drawing/2014/main" id="{BD575D23-D1EF-D995-FD90-9BF468B2B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599" y="1536632"/>
            <a:ext cx="11360802" cy="4555202"/>
          </a:xfrm>
          <a:prstGeom prst="rect">
            <a:avLst/>
          </a:prstGeom>
        </p:spPr>
        <p:txBody>
          <a:bodyPr lIns="121899" tIns="121899" rIns="121899" bIns="121899"/>
          <a:lstStyle/>
          <a:p>
            <a:pPr marL="0" indent="0">
              <a:buSzTx/>
              <a:buNone/>
            </a:pPr>
            <a:r>
              <a:rPr lang="it-IT" dirty="0"/>
              <a:t>Indagini sezionali ripetute, soprattutto se a brevi e contigui intervalli temporali, consentono di fornire evidenze sull’evoluzione dei fenomeni (caratteristica spesso molto rilevante in salute pubblica, anche rispetto la mera stima delle prevalenze)….</a:t>
            </a:r>
          </a:p>
          <a:p>
            <a:pPr marL="0" indent="0">
              <a:buSzTx/>
              <a:buNone/>
            </a:pPr>
            <a:r>
              <a:rPr lang="it-IT" dirty="0"/>
              <a:t>Ma richiedono modelli «adeguati»</a:t>
            </a:r>
          </a:p>
          <a:p>
            <a:pPr marL="0" indent="0">
              <a:buSzTx/>
              <a:buNone/>
            </a:pPr>
            <a:endParaRPr lang="it-IT" dirty="0"/>
          </a:p>
          <a:p>
            <a:pPr marL="0" indent="0">
              <a:buSzTx/>
              <a:buNone/>
            </a:pPr>
            <a:r>
              <a:rPr lang="it-IT" i="1" dirty="0" err="1"/>
              <a:t>S.Campostrini</a:t>
            </a:r>
            <a:r>
              <a:rPr lang="it-IT" i="1" dirty="0"/>
              <a:t> (1992) Indagini socio-sanitarie continue. Problemi di misura e di analisi, Tesi di dottorato in Statistica, Università degli Studi di Padova</a:t>
            </a:r>
            <a:endParaRPr i="1" dirty="0"/>
          </a:p>
        </p:txBody>
      </p:sp>
      <p:sp>
        <p:nvSpPr>
          <p:cNvPr id="264" name="Google Shape;149;p23">
            <a:extLst>
              <a:ext uri="{FF2B5EF4-FFF2-40B4-BE49-F238E27FC236}">
                <a16:creationId xmlns:a16="http://schemas.microsoft.com/office/drawing/2014/main" id="{2C1681E7-F884-8F28-D959-2DA6750158B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694469" y="6279690"/>
            <a:ext cx="333743" cy="40066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899" tIns="121899" rIns="121899" bIns="121899">
            <a:normAutofit fontScale="55000" lnSpcReduction="20000"/>
          </a:bodyPr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pic>
        <p:nvPicPr>
          <p:cNvPr id="265" name="Google Shape;150;p23" descr="Google Shape;150;p23">
            <a:extLst>
              <a:ext uri="{FF2B5EF4-FFF2-40B4-BE49-F238E27FC236}">
                <a16:creationId xmlns:a16="http://schemas.microsoft.com/office/drawing/2014/main" id="{CE6A0B95-EF39-9965-0A85-1E92CC99F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766" y="4595451"/>
            <a:ext cx="4136923" cy="190841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1DD6D43-B623-C8B1-762F-B0A611965505}"/>
              </a:ext>
            </a:extLst>
          </p:cNvPr>
          <p:cNvSpPr txBox="1"/>
          <p:nvPr/>
        </p:nvSpPr>
        <p:spPr>
          <a:xfrm>
            <a:off x="6985100" y="5226492"/>
            <a:ext cx="504311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/>
              <a:t>Lifestyle and Health, RUHBC – Edinburgh University</a:t>
            </a:r>
          </a:p>
          <a:p>
            <a:r>
              <a:rPr lang="it-IT" dirty="0"/>
              <a:t>BRFSS – CDC Atlanta</a:t>
            </a:r>
          </a:p>
        </p:txBody>
      </p:sp>
    </p:spTree>
    <p:extLst>
      <p:ext uri="{BB962C8B-B14F-4D97-AF65-F5344CB8AC3E}">
        <p14:creationId xmlns:p14="http://schemas.microsoft.com/office/powerpoint/2010/main" val="160779958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Box 9"/>
          <p:cNvSpPr txBox="1"/>
          <p:nvPr/>
        </p:nvSpPr>
        <p:spPr>
          <a:xfrm>
            <a:off x="5321914" y="1141004"/>
            <a:ext cx="6737813" cy="129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200"/>
              </a:spcBef>
              <a:defRPr sz="2100" b="1">
                <a:solidFill>
                  <a:schemeClr val="accent2"/>
                </a:solidFill>
              </a:defRPr>
            </a:lvl1pPr>
          </a:lstStyle>
          <a:p>
            <a:r>
              <a:rPr sz="2800" dirty="0"/>
              <a:t>Studying morbidity compression</a:t>
            </a:r>
            <a:endParaRPr lang="it-IT" sz="2800" dirty="0"/>
          </a:p>
          <a:p>
            <a:r>
              <a:rPr lang="it-IT" sz="2000" dirty="0" err="1"/>
              <a:t>Unfolding</a:t>
            </a:r>
            <a:r>
              <a:rPr lang="it-IT" sz="2000" dirty="0"/>
              <a:t> the </a:t>
            </a:r>
            <a:r>
              <a:rPr lang="it-IT" sz="2000" dirty="0" err="1"/>
              <a:t>SEcrets</a:t>
            </a:r>
            <a:r>
              <a:rPr lang="it-IT" sz="2000" dirty="0"/>
              <a:t> of </a:t>
            </a:r>
            <a:r>
              <a:rPr lang="it-IT" sz="2000" dirty="0" err="1"/>
              <a:t>LongEvity</a:t>
            </a:r>
            <a:r>
              <a:rPr lang="it-IT" sz="2000" dirty="0"/>
              <a:t>: Current Trends and future </a:t>
            </a:r>
            <a:r>
              <a:rPr lang="it-IT" sz="2000" dirty="0" err="1"/>
              <a:t>prospects</a:t>
            </a:r>
            <a:r>
              <a:rPr lang="it-IT" sz="2000" dirty="0"/>
              <a:t>" (SELECT)</a:t>
            </a:r>
            <a:endParaRPr sz="2000" dirty="0"/>
          </a:p>
        </p:txBody>
      </p:sp>
      <p:pic>
        <p:nvPicPr>
          <p:cNvPr id="268" name="Immagine 2" descr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14" y="430495"/>
            <a:ext cx="5170214" cy="5170215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CasellaDiTesto 3"/>
          <p:cNvSpPr txBox="1"/>
          <p:nvPr/>
        </p:nvSpPr>
        <p:spPr>
          <a:xfrm>
            <a:off x="5321914" y="2484422"/>
            <a:ext cx="4296012" cy="1772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/>
            </a:lvl1pPr>
          </a:lstStyle>
          <a:p>
            <a:r>
              <a:rPr dirty="0"/>
              <a:t>Posterior means and 95% credible intervals for π</a:t>
            </a:r>
            <a:r>
              <a:rPr dirty="0" err="1"/>
              <a:t>i</a:t>
            </a:r>
            <a:r>
              <a:rPr dirty="0"/>
              <a:t> by age, year, and other covariates. Panels in each column refer to a given year, while panels in each row refer to a given combination of levels of the other two covariates education and economic difficulties. The labels for the rows are the following: H:N means education= medium–high and economic difficulties = no; L:N means education = low and economic difficulties = no; H:Y means education = medium–high and economic difficulties = yes; L:Y means education = low and economic difficulties = yes.</a:t>
            </a:r>
          </a:p>
        </p:txBody>
      </p:sp>
      <p:sp>
        <p:nvSpPr>
          <p:cNvPr id="270" name="CasellaDiTesto 1"/>
          <p:cNvSpPr txBox="1"/>
          <p:nvPr/>
        </p:nvSpPr>
        <p:spPr>
          <a:xfrm>
            <a:off x="4952488" y="4670191"/>
            <a:ext cx="4891119" cy="73866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900"/>
            </a:pPr>
            <a:r>
              <a:rPr sz="1400" dirty="0"/>
              <a:t>Pastore A., </a:t>
            </a:r>
            <a:r>
              <a:rPr sz="1400" dirty="0" err="1"/>
              <a:t>Tonellato</a:t>
            </a:r>
            <a:r>
              <a:rPr sz="1400" dirty="0"/>
              <a:t> S., </a:t>
            </a:r>
            <a:r>
              <a:rPr sz="1400" dirty="0" err="1"/>
              <a:t>Aliverti</a:t>
            </a:r>
            <a:r>
              <a:rPr sz="1400" dirty="0"/>
              <a:t> E., Campostrini S., When does morbidity start? An analysis of changes in morbidity between 2013 and 2019 in</a:t>
            </a:r>
            <a:r>
              <a:rPr lang="it-IT" sz="1400" dirty="0"/>
              <a:t> </a:t>
            </a:r>
            <a:r>
              <a:rPr sz="1400" dirty="0"/>
              <a:t>Italy, </a:t>
            </a:r>
            <a:r>
              <a:rPr sz="1400" i="1" dirty="0"/>
              <a:t>Statistical Methods and Application, 2022</a:t>
            </a:r>
          </a:p>
        </p:txBody>
      </p:sp>
      <p:pic>
        <p:nvPicPr>
          <p:cNvPr id="275" name="object 6" descr="objec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184" y="279825"/>
            <a:ext cx="1214348" cy="475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E6E4873-E5AB-3889-11C0-FB9494A50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579" y="4490972"/>
            <a:ext cx="1715662" cy="172325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428ED15-6DD7-77FD-4609-C02215AD2D6B}"/>
              </a:ext>
            </a:extLst>
          </p:cNvPr>
          <p:cNvSpPr txBox="1"/>
          <p:nvPr/>
        </p:nvSpPr>
        <p:spPr>
          <a:xfrm>
            <a:off x="803936" y="6014174"/>
            <a:ext cx="7878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1">
                    <a:lumMod val="50000"/>
                  </a:schemeClr>
                </a:solidFill>
              </a:rPr>
              <a:t>Indicatore di morbilità «grezzo»: presenza di almeno una patologia diagnosticata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Immagine 2" descr="Welcome in this website | OCEANIC MEGATRANSFORMS">
            <a:extLst>
              <a:ext uri="{FF2B5EF4-FFF2-40B4-BE49-F238E27FC236}">
                <a16:creationId xmlns:a16="http://schemas.microsoft.com/office/drawing/2014/main" id="{F71D408D-6670-8FC2-0117-4472741D0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072" y="200742"/>
            <a:ext cx="3000799" cy="10734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1791-4B90-A313-CAF6-CBF2899F4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Box 9">
            <a:extLst>
              <a:ext uri="{FF2B5EF4-FFF2-40B4-BE49-F238E27FC236}">
                <a16:creationId xmlns:a16="http://schemas.microsoft.com/office/drawing/2014/main" id="{ED56EAF2-2837-BFFE-17CF-282834A73C35}"/>
              </a:ext>
            </a:extLst>
          </p:cNvPr>
          <p:cNvSpPr txBox="1"/>
          <p:nvPr/>
        </p:nvSpPr>
        <p:spPr>
          <a:xfrm>
            <a:off x="6807073" y="1263326"/>
            <a:ext cx="6415326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sz="2100" b="1">
                <a:solidFill>
                  <a:schemeClr val="accent2"/>
                </a:solidFill>
              </a:defRPr>
            </a:lvl1pPr>
          </a:lstStyle>
          <a:p>
            <a:r>
              <a:rPr sz="2800" dirty="0"/>
              <a:t>Studying morbidity compression</a:t>
            </a:r>
          </a:p>
        </p:txBody>
      </p:sp>
      <p:pic>
        <p:nvPicPr>
          <p:cNvPr id="268" name="Immagine 2" descr="Immagine 2">
            <a:extLst>
              <a:ext uri="{FF2B5EF4-FFF2-40B4-BE49-F238E27FC236}">
                <a16:creationId xmlns:a16="http://schemas.microsoft.com/office/drawing/2014/main" id="{C7DCCF63-5451-126C-C7E9-2C517496D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14" y="430495"/>
            <a:ext cx="5170214" cy="5170215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CasellaDiTesto 3">
            <a:extLst>
              <a:ext uri="{FF2B5EF4-FFF2-40B4-BE49-F238E27FC236}">
                <a16:creationId xmlns:a16="http://schemas.microsoft.com/office/drawing/2014/main" id="{275E2979-460D-F580-B946-77F79C13AEEF}"/>
              </a:ext>
            </a:extLst>
          </p:cNvPr>
          <p:cNvSpPr txBox="1"/>
          <p:nvPr/>
        </p:nvSpPr>
        <p:spPr>
          <a:xfrm>
            <a:off x="7035798" y="2227426"/>
            <a:ext cx="4296012" cy="1772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/>
            </a:lvl1pPr>
          </a:lstStyle>
          <a:p>
            <a:r>
              <a:t>Posterior means and 95% credible intervals for πi by age, year, and other covariates. Panels in each column refer to a given year, while panels in each row refer to a given combination of levels of the other two covariates education and economic difficulties. The labels for the rows are the following: H:N means education= medium–high and economic difficulties = no; L:N means education = low and economic difficulties = no; H:Y means education = medium–high and economic difficulties = yes; L:Y means education = low and economic difficulties = yes.</a:t>
            </a:r>
          </a:p>
        </p:txBody>
      </p:sp>
      <p:sp>
        <p:nvSpPr>
          <p:cNvPr id="270" name="CasellaDiTesto 1">
            <a:extLst>
              <a:ext uri="{FF2B5EF4-FFF2-40B4-BE49-F238E27FC236}">
                <a16:creationId xmlns:a16="http://schemas.microsoft.com/office/drawing/2014/main" id="{F4E34CE6-4057-1F10-584E-91751CC0E86D}"/>
              </a:ext>
            </a:extLst>
          </p:cNvPr>
          <p:cNvSpPr txBox="1"/>
          <p:nvPr/>
        </p:nvSpPr>
        <p:spPr>
          <a:xfrm>
            <a:off x="4952488" y="4670191"/>
            <a:ext cx="4891119" cy="73866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900"/>
            </a:pPr>
            <a:r>
              <a:rPr sz="1400" dirty="0"/>
              <a:t>Pastore A., </a:t>
            </a:r>
            <a:r>
              <a:rPr sz="1400" dirty="0" err="1"/>
              <a:t>Tonellato</a:t>
            </a:r>
            <a:r>
              <a:rPr sz="1400" dirty="0"/>
              <a:t> S., </a:t>
            </a:r>
            <a:r>
              <a:rPr sz="1400" dirty="0" err="1"/>
              <a:t>Aliverti</a:t>
            </a:r>
            <a:r>
              <a:rPr sz="1400" dirty="0"/>
              <a:t> E., Campostrini S., When does morbidity start? An analysis of changes in morbidity between 2013 and 2019 in</a:t>
            </a:r>
            <a:r>
              <a:rPr lang="it-IT" sz="1400" dirty="0"/>
              <a:t> </a:t>
            </a:r>
            <a:r>
              <a:rPr sz="1400" dirty="0"/>
              <a:t>Italy, </a:t>
            </a:r>
            <a:r>
              <a:rPr sz="1400" i="1" dirty="0"/>
              <a:t>Statistical Methods and Application, 2022</a:t>
            </a:r>
          </a:p>
        </p:txBody>
      </p:sp>
      <p:pic>
        <p:nvPicPr>
          <p:cNvPr id="275" name="object 6" descr="object 6">
            <a:extLst>
              <a:ext uri="{FF2B5EF4-FFF2-40B4-BE49-F238E27FC236}">
                <a16:creationId xmlns:a16="http://schemas.microsoft.com/office/drawing/2014/main" id="{C7AEA578-BF1E-9433-E801-272CB7551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184" y="279825"/>
            <a:ext cx="1214348" cy="475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980DA2D-415E-8D4A-6ACF-6F5C52021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579" y="4490972"/>
            <a:ext cx="1715662" cy="172325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8D52698-4A60-085E-EA49-B51BDCAA61C5}"/>
              </a:ext>
            </a:extLst>
          </p:cNvPr>
          <p:cNvSpPr txBox="1"/>
          <p:nvPr/>
        </p:nvSpPr>
        <p:spPr>
          <a:xfrm>
            <a:off x="803936" y="6014174"/>
            <a:ext cx="7878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1">
                    <a:lumMod val="50000"/>
                  </a:schemeClr>
                </a:solidFill>
              </a:rPr>
              <a:t>Indicatore di morbilità «grezzo»: presenza di almeno una patologia diagnosticata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AD4F8907-0E82-2E09-C09A-0A8DB783CAF7}"/>
              </a:ext>
            </a:extLst>
          </p:cNvPr>
          <p:cNvSpPr/>
          <p:nvPr/>
        </p:nvSpPr>
        <p:spPr>
          <a:xfrm>
            <a:off x="5818468" y="1949571"/>
            <a:ext cx="3454927" cy="18579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Le curve si «abbassano» negli anni, pur mantenendo le differenze tra generi e classi SE</a:t>
            </a:r>
          </a:p>
        </p:txBody>
      </p:sp>
    </p:spTree>
    <p:extLst>
      <p:ext uri="{BB962C8B-B14F-4D97-AF65-F5344CB8AC3E}">
        <p14:creationId xmlns:p14="http://schemas.microsoft.com/office/powerpoint/2010/main" val="1351421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05" b="2209"/>
          <a:stretch/>
        </p:blipFill>
        <p:spPr>
          <a:xfrm>
            <a:off x="2642812" y="1242672"/>
            <a:ext cx="6906376" cy="4771319"/>
          </a:xfrm>
          <a:prstGeom prst="rect">
            <a:avLst/>
          </a:prstGeom>
        </p:spPr>
      </p:pic>
      <p:pic>
        <p:nvPicPr>
          <p:cNvPr id="6146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03388" y="115888"/>
            <a:ext cx="647700" cy="863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147" name="Line 2"/>
          <p:cNvSpPr>
            <a:spLocks noChangeShapeType="1"/>
          </p:cNvSpPr>
          <p:nvPr/>
        </p:nvSpPr>
        <p:spPr bwMode="auto">
          <a:xfrm>
            <a:off x="1524000" y="1052514"/>
            <a:ext cx="9144000" cy="1587"/>
          </a:xfrm>
          <a:prstGeom prst="line">
            <a:avLst/>
          </a:prstGeom>
          <a:noFill/>
          <a:ln w="12600">
            <a:solidFill>
              <a:srgbClr val="C3004A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6149" name="Text Box 9"/>
          <p:cNvSpPr txBox="1">
            <a:spLocks noChangeArrowheads="1"/>
          </p:cNvSpPr>
          <p:nvPr/>
        </p:nvSpPr>
        <p:spPr bwMode="auto">
          <a:xfrm>
            <a:off x="2799621" y="340723"/>
            <a:ext cx="86756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800" b="1" dirty="0" err="1">
                <a:solidFill>
                  <a:schemeClr val="accent2"/>
                </a:solidFill>
              </a:rPr>
              <a:t>Studying</a:t>
            </a:r>
            <a:r>
              <a:rPr lang="it-IT" sz="2800" b="1" dirty="0">
                <a:solidFill>
                  <a:schemeClr val="accent2"/>
                </a:solidFill>
              </a:rPr>
              <a:t> </a:t>
            </a:r>
            <a:r>
              <a:rPr lang="it-IT" sz="2800" b="1" dirty="0" err="1">
                <a:solidFill>
                  <a:schemeClr val="accent2"/>
                </a:solidFill>
              </a:rPr>
              <a:t>morbidity</a:t>
            </a:r>
            <a:r>
              <a:rPr lang="it-IT" sz="2800" b="1" dirty="0">
                <a:solidFill>
                  <a:schemeClr val="accent2"/>
                </a:solidFill>
              </a:rPr>
              <a:t> </a:t>
            </a:r>
            <a:r>
              <a:rPr lang="it-IT" sz="2800" b="1" dirty="0" err="1">
                <a:solidFill>
                  <a:schemeClr val="accent2"/>
                </a:solidFill>
              </a:rPr>
              <a:t>compression</a:t>
            </a:r>
            <a:r>
              <a:rPr lang="it-IT" sz="2800" b="1" dirty="0">
                <a:solidFill>
                  <a:schemeClr val="accent2"/>
                </a:solidFill>
              </a:rPr>
              <a:t> (</a:t>
            </a:r>
            <a:r>
              <a:rPr lang="it-IT" sz="2800" b="1" dirty="0" err="1">
                <a:solidFill>
                  <a:schemeClr val="accent2"/>
                </a:solidFill>
              </a:rPr>
              <a:t>functional</a:t>
            </a:r>
            <a:r>
              <a:rPr lang="it-IT" sz="2800" b="1" dirty="0">
                <a:solidFill>
                  <a:schemeClr val="accent2"/>
                </a:solidFill>
              </a:rPr>
              <a:t> </a:t>
            </a:r>
            <a:r>
              <a:rPr lang="it-IT" sz="2800" b="1" dirty="0" err="1">
                <a:solidFill>
                  <a:schemeClr val="accent2"/>
                </a:solidFill>
              </a:rPr>
              <a:t>analysis</a:t>
            </a:r>
            <a:r>
              <a:rPr lang="it-IT" sz="2800" b="1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60B3A-6459-249E-C61B-3F3880F3DE70}"/>
              </a:ext>
            </a:extLst>
          </p:cNvPr>
          <p:cNvSpPr txBox="1"/>
          <p:nvPr/>
        </p:nvSpPr>
        <p:spPr>
          <a:xfrm>
            <a:off x="1174959" y="5885534"/>
            <a:ext cx="93346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GB" sz="1000" dirty="0"/>
            </a:br>
            <a:r>
              <a:rPr lang="en-GB" sz="1000" dirty="0"/>
              <a:t>Top panels: predicted probability across subgroups, as a function of age. Points denote the observed proportions of individuals with chronic condition. Middle and</a:t>
            </a:r>
            <a:br>
              <a:rPr lang="en-GB" sz="1000" dirty="0"/>
            </a:br>
            <a:r>
              <a:rPr lang="en-GB" sz="1000" dirty="0"/>
              <a:t>bottom panels represent the estimated first and derivatives of the function reported on top, respectively. Vertical lines denote the estimated maxima of the second derivatives.</a:t>
            </a:r>
            <a:br>
              <a:rPr lang="en-GB" sz="1000" dirty="0"/>
            </a:br>
            <a:r>
              <a:rPr lang="en-GB" sz="1000" dirty="0"/>
              <a:t>Posterior medians are represented with solid lines, while shades represent 95% credible intervals</a:t>
            </a:r>
            <a:endParaRPr lang="en-IT" sz="1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247A745-C0F4-527D-9D45-5D2D2E577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579" y="4490972"/>
            <a:ext cx="1715662" cy="172325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66EE177C-A7FD-9D3B-7E76-35C5A2E476E0}"/>
              </a:ext>
            </a:extLst>
          </p:cNvPr>
          <p:cNvSpPr txBox="1"/>
          <p:nvPr/>
        </p:nvSpPr>
        <p:spPr>
          <a:xfrm>
            <a:off x="9673390" y="3346707"/>
            <a:ext cx="2111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Living longer and living healthier? Analysis of</a:t>
            </a:r>
          </a:p>
          <a:p>
            <a:r>
              <a:rPr lang="en-US" sz="1400" dirty="0"/>
              <a:t>compression of morbidity in Italy (</a:t>
            </a:r>
            <a:r>
              <a:rPr lang="en-US" sz="1400" i="1" dirty="0"/>
              <a:t>to be published)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215442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Box 9"/>
          <p:cNvSpPr txBox="1"/>
          <p:nvPr/>
        </p:nvSpPr>
        <p:spPr>
          <a:xfrm>
            <a:off x="6862005" y="1865476"/>
            <a:ext cx="6415326" cy="150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100" b="1">
                <a:solidFill>
                  <a:schemeClr val="accent2"/>
                </a:solidFill>
              </a:defRPr>
            </a:pPr>
            <a:r>
              <a:rPr sz="2400" dirty="0"/>
              <a:t>Studying comorbidity across </a:t>
            </a:r>
          </a:p>
          <a:p>
            <a:pPr>
              <a:spcBef>
                <a:spcPts val="1200"/>
              </a:spcBef>
              <a:defRPr sz="2100" b="1">
                <a:solidFill>
                  <a:schemeClr val="accent2"/>
                </a:solidFill>
              </a:defRPr>
            </a:pPr>
            <a:r>
              <a:rPr sz="2400" dirty="0"/>
              <a:t>socio-economical populations </a:t>
            </a:r>
            <a:endParaRPr lang="it-IT" sz="2400" dirty="0"/>
          </a:p>
          <a:p>
            <a:pPr>
              <a:spcBef>
                <a:spcPts val="1200"/>
              </a:spcBef>
              <a:defRPr sz="2100" b="1">
                <a:solidFill>
                  <a:schemeClr val="accent2"/>
                </a:solidFill>
              </a:defRPr>
            </a:pPr>
            <a:r>
              <a:rPr lang="it-IT" sz="2400" dirty="0" err="1"/>
              <a:t>considering</a:t>
            </a:r>
            <a:r>
              <a:rPr lang="it-IT" sz="2400" dirty="0"/>
              <a:t> the «weight» of </a:t>
            </a:r>
            <a:r>
              <a:rPr lang="it-IT" sz="2400" dirty="0" err="1"/>
              <a:t>each</a:t>
            </a:r>
            <a:r>
              <a:rPr lang="it-IT" sz="2400" dirty="0"/>
              <a:t> </a:t>
            </a:r>
            <a:r>
              <a:rPr lang="it-IT" sz="2400" dirty="0" err="1"/>
              <a:t>disease</a:t>
            </a:r>
            <a:endParaRPr sz="2400" dirty="0"/>
          </a:p>
        </p:txBody>
      </p:sp>
      <p:sp>
        <p:nvSpPr>
          <p:cNvPr id="290" name="CasellaDiTesto 1"/>
          <p:cNvSpPr txBox="1"/>
          <p:nvPr/>
        </p:nvSpPr>
        <p:spPr>
          <a:xfrm>
            <a:off x="7320135" y="5315710"/>
            <a:ext cx="4522459" cy="73866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000"/>
            </a:pPr>
            <a:r>
              <a:rPr lang="en-US" sz="1400" dirty="0" err="1"/>
              <a:t>Andreella</a:t>
            </a:r>
            <a:r>
              <a:rPr lang="en-US" sz="1400" dirty="0"/>
              <a:t>, A., </a:t>
            </a:r>
            <a:r>
              <a:rPr lang="en-US" sz="1400" dirty="0" err="1"/>
              <a:t>Monasta</a:t>
            </a:r>
            <a:r>
              <a:rPr lang="en-US" sz="1400" dirty="0"/>
              <a:t>, L., &amp; Campostrini, S. (2025). Analysis of multimorbidity compression using a latent variable in a mixed mixture model. </a:t>
            </a:r>
            <a:r>
              <a:rPr lang="en-US" sz="1400" i="1" dirty="0"/>
              <a:t>Population Health Metrics</a:t>
            </a:r>
            <a:r>
              <a:rPr lang="en-US" sz="1400" dirty="0"/>
              <a:t>, </a:t>
            </a:r>
            <a:r>
              <a:rPr lang="en-US" sz="1400" i="1" dirty="0"/>
              <a:t>23</a:t>
            </a:r>
            <a:r>
              <a:rPr lang="en-US" sz="1400" dirty="0"/>
              <a:t>(1), 58.</a:t>
            </a:r>
            <a:endParaRPr sz="1100" i="1" dirty="0"/>
          </a:p>
        </p:txBody>
      </p:sp>
      <p:pic>
        <p:nvPicPr>
          <p:cNvPr id="291" name="Immagine 2" descr="Immagine 2"/>
          <p:cNvPicPr>
            <a:picLocks noChangeAspect="1"/>
          </p:cNvPicPr>
          <p:nvPr/>
        </p:nvPicPr>
        <p:blipFill>
          <a:blip r:embed="rId2"/>
          <a:srcRect l="36917" t="29809" r="14352" b="7185"/>
          <a:stretch>
            <a:fillRect/>
          </a:stretch>
        </p:blipFill>
        <p:spPr>
          <a:xfrm>
            <a:off x="-1" y="1513348"/>
            <a:ext cx="6948266" cy="5053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" name="object 6" descr="objec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184" y="279825"/>
            <a:ext cx="1214348" cy="475244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87A7010-9E67-CCA4-E044-38BB3B5747B1}"/>
              </a:ext>
            </a:extLst>
          </p:cNvPr>
          <p:cNvSpPr txBox="1"/>
          <p:nvPr/>
        </p:nvSpPr>
        <p:spPr>
          <a:xfrm>
            <a:off x="3352289" y="3245868"/>
            <a:ext cx="670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AF1E450-6838-AA5D-C22B-5222EDFC3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1297" y="3565986"/>
            <a:ext cx="1617007" cy="1617007"/>
          </a:xfrm>
          <a:prstGeom prst="rect">
            <a:avLst/>
          </a:prstGeom>
        </p:spPr>
      </p:pic>
      <p:pic>
        <p:nvPicPr>
          <p:cNvPr id="2" name="Immagine 1" descr="PON Ricerca e Innovazione 2014-2020">
            <a:extLst>
              <a:ext uri="{FF2B5EF4-FFF2-40B4-BE49-F238E27FC236}">
                <a16:creationId xmlns:a16="http://schemas.microsoft.com/office/drawing/2014/main" id="{0886EDE6-58F4-7585-D450-96D64BEEB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592" y="106753"/>
            <a:ext cx="4713969" cy="15713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Box 9"/>
          <p:cNvSpPr txBox="1"/>
          <p:nvPr/>
        </p:nvSpPr>
        <p:spPr>
          <a:xfrm>
            <a:off x="315227" y="5460517"/>
            <a:ext cx="7262261" cy="362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sz="2100" b="1">
                <a:solidFill>
                  <a:schemeClr val="accent2"/>
                </a:solidFill>
              </a:defRPr>
            </a:lvl1pPr>
          </a:lstStyle>
          <a:p>
            <a:r>
              <a:t>Studying comorbidity across socio-economical populations </a:t>
            </a:r>
          </a:p>
        </p:txBody>
      </p:sp>
      <p:pic>
        <p:nvPicPr>
          <p:cNvPr id="278" name="Immagine 4" descr="Immagine 4"/>
          <p:cNvPicPr>
            <a:picLocks noChangeAspect="1"/>
          </p:cNvPicPr>
          <p:nvPr/>
        </p:nvPicPr>
        <p:blipFill>
          <a:blip r:embed="rId2"/>
          <a:srcRect l="32019" t="35132" r="19320" b="21614"/>
          <a:stretch>
            <a:fillRect/>
          </a:stretch>
        </p:blipFill>
        <p:spPr>
          <a:xfrm>
            <a:off x="-1" y="1063056"/>
            <a:ext cx="8744724" cy="437236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" name="object 6" descr="objec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184" y="279825"/>
            <a:ext cx="1214348" cy="4752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87" name="Ovale 13"/>
          <p:cNvGrpSpPr/>
          <p:nvPr/>
        </p:nvGrpSpPr>
        <p:grpSpPr>
          <a:xfrm>
            <a:off x="8631079" y="1535855"/>
            <a:ext cx="2872610" cy="2068698"/>
            <a:chOff x="0" y="0"/>
            <a:chExt cx="2872608" cy="2068697"/>
          </a:xfrm>
        </p:grpSpPr>
        <p:sp>
          <p:nvSpPr>
            <p:cNvPr id="285" name="Oval"/>
            <p:cNvSpPr/>
            <p:nvPr/>
          </p:nvSpPr>
          <p:spPr>
            <a:xfrm rot="20092339">
              <a:off x="89417" y="523602"/>
              <a:ext cx="2693775" cy="1021493"/>
            </a:xfrm>
            <a:prstGeom prst="ellipse">
              <a:avLst/>
            </a:prstGeom>
            <a:solidFill>
              <a:schemeClr val="accent1"/>
            </a:solid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 b="1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6" name="Comorbidità e pesi diversi alle patologie"/>
            <p:cNvSpPr txBox="1"/>
            <p:nvPr/>
          </p:nvSpPr>
          <p:spPr>
            <a:xfrm rot="20092339">
              <a:off x="535981" y="559458"/>
              <a:ext cx="1800646" cy="949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Comorbidità e pesi diversi alle patologie</a:t>
              </a:r>
            </a:p>
          </p:txBody>
        </p:sp>
      </p:grp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BC86CCB5-2165-1EE3-1D8A-144422BF1CD3}"/>
              </a:ext>
            </a:extLst>
          </p:cNvPr>
          <p:cNvSpPr txBox="1"/>
          <p:nvPr/>
        </p:nvSpPr>
        <p:spPr>
          <a:xfrm>
            <a:off x="7320135" y="5315710"/>
            <a:ext cx="4522459" cy="73866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000"/>
            </a:pPr>
            <a:r>
              <a:rPr lang="en-US" sz="1400" dirty="0" err="1"/>
              <a:t>Andreella</a:t>
            </a:r>
            <a:r>
              <a:rPr lang="en-US" sz="1400" dirty="0"/>
              <a:t>, A., </a:t>
            </a:r>
            <a:r>
              <a:rPr lang="en-US" sz="1400" dirty="0" err="1"/>
              <a:t>Monasta</a:t>
            </a:r>
            <a:r>
              <a:rPr lang="en-US" sz="1400" dirty="0"/>
              <a:t>, L., &amp; Campostrini, S. (2025). Analysis of multimorbidity compression using a latent variable in a mixed mixture model. </a:t>
            </a:r>
            <a:r>
              <a:rPr lang="en-US" sz="1400" i="1" dirty="0"/>
              <a:t>Population Health Metrics</a:t>
            </a:r>
            <a:r>
              <a:rPr lang="en-US" sz="1400" dirty="0"/>
              <a:t>, </a:t>
            </a:r>
            <a:r>
              <a:rPr lang="en-US" sz="1400" i="1" dirty="0"/>
              <a:t>23</a:t>
            </a:r>
            <a:r>
              <a:rPr lang="en-US" sz="1400" dirty="0"/>
              <a:t>(1), 58.</a:t>
            </a:r>
            <a:endParaRPr sz="1100" i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C3697D1-5BC9-2B0C-4CD2-4F56E965E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1297" y="3565986"/>
            <a:ext cx="1617007" cy="16170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155;p24"/>
          <p:cNvSpPr txBox="1">
            <a:spLocks noGrp="1"/>
          </p:cNvSpPr>
          <p:nvPr>
            <p:ph type="title"/>
          </p:nvPr>
        </p:nvSpPr>
        <p:spPr>
          <a:xfrm>
            <a:off x="415599" y="1039887"/>
            <a:ext cx="11360802" cy="763601"/>
          </a:xfrm>
          <a:prstGeom prst="rect">
            <a:avLst/>
          </a:prstGeom>
        </p:spPr>
        <p:txBody>
          <a:bodyPr lIns="121899" tIns="121899" rIns="121899" bIns="121899">
            <a:normAutofit fontScale="90000"/>
          </a:bodyPr>
          <a:lstStyle>
            <a:lvl1pPr>
              <a:defRPr sz="3900"/>
            </a:lvl1pPr>
          </a:lstStyle>
          <a:p>
            <a:r>
              <a:rPr dirty="0" err="1"/>
              <a:t>Informazione</a:t>
            </a:r>
            <a:r>
              <a:rPr dirty="0"/>
              <a:t> </a:t>
            </a:r>
            <a:r>
              <a:rPr dirty="0" err="1"/>
              <a:t>disponibile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cinque </a:t>
            </a:r>
            <a:r>
              <a:rPr dirty="0" err="1"/>
              <a:t>malattie</a:t>
            </a:r>
            <a:r>
              <a:rPr dirty="0"/>
              <a:t> </a:t>
            </a:r>
            <a:r>
              <a:rPr dirty="0" err="1"/>
              <a:t>croniche</a:t>
            </a:r>
            <a:endParaRPr dirty="0"/>
          </a:p>
        </p:txBody>
      </p:sp>
      <p:sp>
        <p:nvSpPr>
          <p:cNvPr id="327" name="Google Shape;156;p24"/>
          <p:cNvSpPr txBox="1">
            <a:spLocks noGrp="1"/>
          </p:cNvSpPr>
          <p:nvPr>
            <p:ph type="body" sz="half" idx="1"/>
          </p:nvPr>
        </p:nvSpPr>
        <p:spPr>
          <a:xfrm>
            <a:off x="2992632" y="2613366"/>
            <a:ext cx="8304002" cy="3478402"/>
          </a:xfrm>
          <a:prstGeom prst="rect">
            <a:avLst/>
          </a:prstGeom>
        </p:spPr>
        <p:txBody>
          <a:bodyPr lIns="121899" tIns="121899" rIns="121899" bIns="121899"/>
          <a:lstStyle/>
          <a:p>
            <a:pPr marL="0" indent="0">
              <a:lnSpc>
                <a:spcPct val="81000"/>
              </a:lnSpc>
              <a:buSzTx/>
              <a:buNone/>
              <a:defRPr sz="2300">
                <a:solidFill>
                  <a:srgbClr val="FFFFFF"/>
                </a:solidFill>
              </a:defRPr>
            </a:pPr>
            <a:r>
              <a:t>Approccio multivariato</a:t>
            </a:r>
            <a:r>
              <a:rPr>
                <a:solidFill>
                  <a:srgbClr val="000000"/>
                </a:solidFill>
              </a:rPr>
              <a:t> riconosce la natura multi-dimensionale del problemare e considera </a:t>
            </a:r>
            <a:r>
              <a:rPr b="1">
                <a:solidFill>
                  <a:srgbClr val="000000"/>
                </a:solidFill>
              </a:rPr>
              <a:t>ogni malattia</a:t>
            </a:r>
            <a:r>
              <a:rPr>
                <a:solidFill>
                  <a:srgbClr val="000000"/>
                </a:solidFill>
              </a:rPr>
              <a:t> </a:t>
            </a:r>
            <a:r>
              <a:rPr b="1">
                <a:solidFill>
                  <a:srgbClr val="000000"/>
                </a:solidFill>
              </a:rPr>
              <a:t>“separatamente”</a:t>
            </a:r>
            <a:r>
              <a:rPr>
                <a:solidFill>
                  <a:srgbClr val="000000"/>
                </a:solidFill>
              </a:rPr>
              <a:t>, essendo ognuna caratterizzata differentemente.</a:t>
            </a:r>
          </a:p>
          <a:p>
            <a:pPr marL="0" indent="0">
              <a:lnSpc>
                <a:spcPct val="81000"/>
              </a:lnSpc>
              <a:spcBef>
                <a:spcPts val="1600"/>
              </a:spcBef>
              <a:buSzTx/>
              <a:buNone/>
              <a:defRPr sz="2300"/>
            </a:pP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81000"/>
              </a:lnSpc>
              <a:spcBef>
                <a:spcPts val="1600"/>
              </a:spcBef>
              <a:buSzTx/>
              <a:buNone/>
              <a:defRPr sz="2300"/>
            </a:pPr>
            <a:r>
              <a:t>PRO:</a:t>
            </a:r>
          </a:p>
          <a:p>
            <a:pPr marL="0" indent="0">
              <a:lnSpc>
                <a:spcPct val="81000"/>
              </a:lnSpc>
              <a:spcBef>
                <a:spcPts val="1600"/>
              </a:spcBef>
              <a:buSzTx/>
              <a:buNone/>
              <a:defRPr sz="2300"/>
            </a:pPr>
            <a:r>
              <a:t>Approccio multivariato permette </a:t>
            </a:r>
            <a:r>
              <a:rPr b="1"/>
              <a:t>l’identificazione di caratteristiche specifiche </a:t>
            </a:r>
            <a:r>
              <a:t>di ogni malattia ma garantendo la possibilità di studiare</a:t>
            </a:r>
            <a:r>
              <a:rPr b="1"/>
              <a:t> anche la relazione tra malattie.</a:t>
            </a:r>
          </a:p>
        </p:txBody>
      </p:sp>
      <p:sp>
        <p:nvSpPr>
          <p:cNvPr id="328" name="Google Shape;157;p24"/>
          <p:cNvSpPr txBox="1">
            <a:spLocks noGrp="1"/>
          </p:cNvSpPr>
          <p:nvPr>
            <p:ph type="sldNum" sz="quarter" idx="4294967295"/>
          </p:nvPr>
        </p:nvSpPr>
        <p:spPr>
          <a:xfrm>
            <a:off x="11617227" y="6279690"/>
            <a:ext cx="410985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pic>
        <p:nvPicPr>
          <p:cNvPr id="329" name="Google Shape;158;p24" descr="Google Shape;158;p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0" y="1536633"/>
            <a:ext cx="2055555" cy="46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0" name="Google Shape;159;p24" descr="Google Shape;159;p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783" y="1754298"/>
            <a:ext cx="5574051" cy="76357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B892D215-E172-0740-A954-79CBE9F13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290" y="5326995"/>
            <a:ext cx="1369595" cy="1369595"/>
          </a:xfrm>
          <a:prstGeom prst="rect">
            <a:avLst/>
          </a:prstGeom>
        </p:spPr>
      </p:pic>
      <p:pic>
        <p:nvPicPr>
          <p:cNvPr id="4" name="object 2" descr="object 2">
            <a:extLst>
              <a:ext uri="{FF2B5EF4-FFF2-40B4-BE49-F238E27FC236}">
                <a16:creationId xmlns:a16="http://schemas.microsoft.com/office/drawing/2014/main" id="{E8F9038C-3491-5D59-8758-7CB904C21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964" y="222712"/>
            <a:ext cx="1354234" cy="574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object 3" descr="object 3">
            <a:extLst>
              <a:ext uri="{FF2B5EF4-FFF2-40B4-BE49-F238E27FC236}">
                <a16:creationId xmlns:a16="http://schemas.microsoft.com/office/drawing/2014/main" id="{C072FA79-F089-BD5D-1750-50E78E122B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9354" y="247810"/>
            <a:ext cx="1785964" cy="525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object 4" descr="object 4">
            <a:extLst>
              <a:ext uri="{FF2B5EF4-FFF2-40B4-BE49-F238E27FC236}">
                <a16:creationId xmlns:a16="http://schemas.microsoft.com/office/drawing/2014/main" id="{E2F88D7E-01E8-385C-CBD0-C7E46CA6F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9841" y="272908"/>
            <a:ext cx="1577150" cy="4748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object 5" descr="object 5">
            <a:extLst>
              <a:ext uri="{FF2B5EF4-FFF2-40B4-BE49-F238E27FC236}">
                <a16:creationId xmlns:a16="http://schemas.microsoft.com/office/drawing/2014/main" id="{706C0A76-D1FA-AF19-F1DC-277BE114D9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265" y="292987"/>
            <a:ext cx="1740466" cy="4346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57DA6FF-E42B-FCBC-7F10-93282A98C8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2405" y="5318396"/>
            <a:ext cx="1369595" cy="13695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80;p15"/>
          <p:cNvSpPr txBox="1">
            <a:spLocks noGrp="1"/>
          </p:cNvSpPr>
          <p:nvPr>
            <p:ph type="title"/>
          </p:nvPr>
        </p:nvSpPr>
        <p:spPr>
          <a:xfrm>
            <a:off x="415599" y="491766"/>
            <a:ext cx="11360802" cy="763601"/>
          </a:xfrm>
          <a:prstGeom prst="rect">
            <a:avLst/>
          </a:prstGeom>
        </p:spPr>
        <p:txBody>
          <a:bodyPr lIns="121899" tIns="121899" rIns="121899" bIns="121899">
            <a:normAutofit fontScale="90000"/>
          </a:bodyPr>
          <a:lstStyle>
            <a:lvl1pPr>
              <a:defRPr sz="3900"/>
            </a:lvl1pPr>
          </a:lstStyle>
          <a:p>
            <a:r>
              <a:t>Il team in cui lavoro: 	So.Sta. team </a:t>
            </a:r>
          </a:p>
        </p:txBody>
      </p:sp>
      <p:sp>
        <p:nvSpPr>
          <p:cNvPr id="135" name="Google Shape;81;p15"/>
          <p:cNvSpPr txBox="1">
            <a:spLocks noGrp="1"/>
          </p:cNvSpPr>
          <p:nvPr>
            <p:ph type="sldNum" sz="quarter" idx="4294967295"/>
          </p:nvPr>
        </p:nvSpPr>
        <p:spPr>
          <a:xfrm>
            <a:off x="11694469" y="6279690"/>
            <a:ext cx="333743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55000" lnSpcReduction="20000"/>
          </a:bodyPr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pic>
        <p:nvPicPr>
          <p:cNvPr id="136" name="Google Shape;82;p15" descr="Google Shape;82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13" y="1585723"/>
            <a:ext cx="10509868" cy="50946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Google Shape;83;p15" descr="Google Shape;83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933" y="491766"/>
            <a:ext cx="731601" cy="761462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Google Shape;84;p15"/>
          <p:cNvSpPr txBox="1"/>
          <p:nvPr/>
        </p:nvSpPr>
        <p:spPr>
          <a:xfrm>
            <a:off x="2452433" y="5435867"/>
            <a:ext cx="2458800" cy="98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spAutoFit/>
          </a:bodyPr>
          <a:lstStyle/>
          <a:p>
            <a:pPr>
              <a:defRPr sz="24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Tema di ricerca: </a:t>
            </a:r>
          </a:p>
          <a:p>
            <a:pPr>
              <a:defRPr sz="24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salute pubblica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164;p25"/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>
            <a:normAutofit fontScale="90000"/>
          </a:bodyPr>
          <a:lstStyle>
            <a:lvl1pPr>
              <a:defRPr sz="3900"/>
            </a:lvl1pPr>
          </a:lstStyle>
          <a:p>
            <a:r>
              <a:t>Modello logistico multivariato</a:t>
            </a:r>
          </a:p>
        </p:txBody>
      </p:sp>
      <p:sp>
        <p:nvSpPr>
          <p:cNvPr id="333" name="Google Shape;165;p25"/>
          <p:cNvSpPr txBox="1">
            <a:spLocks noGrp="1"/>
          </p:cNvSpPr>
          <p:nvPr>
            <p:ph type="body" idx="1"/>
          </p:nvPr>
        </p:nvSpPr>
        <p:spPr>
          <a:xfrm>
            <a:off x="415599" y="1536632"/>
            <a:ext cx="11360802" cy="4555202"/>
          </a:xfrm>
          <a:prstGeom prst="rect">
            <a:avLst/>
          </a:prstGeom>
        </p:spPr>
        <p:txBody>
          <a:bodyPr lIns="121899" tIns="121899" rIns="121899" bIns="121899"/>
          <a:lstStyle/>
          <a:p>
            <a:pPr marL="0" indent="0">
              <a:buSzTx/>
              <a:buNone/>
            </a:pPr>
            <a:r>
              <a:t>Per un soggetto </a:t>
            </a:r>
            <a:r>
              <a:rPr i="1"/>
              <a:t>i</a:t>
            </a:r>
            <a:r>
              <a:t>, modelliamo la presenza/assenza di D malattie </a:t>
            </a:r>
            <a:r>
              <a:rPr i="1"/>
              <a:t>y</a:t>
            </a:r>
            <a:r>
              <a:rPr i="1" baseline="-25000"/>
              <a:t>ij</a:t>
            </a:r>
            <a:r>
              <a:t> (</a:t>
            </a:r>
            <a:r>
              <a:rPr i="1"/>
              <a:t>j=1,...,D</a:t>
            </a:r>
            <a:r>
              <a:t>) come:</a:t>
            </a:r>
          </a:p>
        </p:txBody>
      </p:sp>
      <p:sp>
        <p:nvSpPr>
          <p:cNvPr id="334" name="Google Shape;166;p25"/>
          <p:cNvSpPr txBox="1">
            <a:spLocks noGrp="1"/>
          </p:cNvSpPr>
          <p:nvPr>
            <p:ph type="sldNum" sz="quarter" idx="4294967295"/>
          </p:nvPr>
        </p:nvSpPr>
        <p:spPr>
          <a:xfrm>
            <a:off x="11617227" y="6279690"/>
            <a:ext cx="410985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pic>
        <p:nvPicPr>
          <p:cNvPr id="335" name="Google Shape;167;p25" descr="Google Shape;167;p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0" y="2357733"/>
            <a:ext cx="11082233" cy="7636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38" name="Google Shape;168;p25"/>
          <p:cNvGrpSpPr/>
          <p:nvPr/>
        </p:nvGrpSpPr>
        <p:grpSpPr>
          <a:xfrm>
            <a:off x="625756" y="3323334"/>
            <a:ext cx="4279602" cy="3596601"/>
            <a:chOff x="-54311" y="0"/>
            <a:chExt cx="4279601" cy="3596600"/>
          </a:xfrm>
        </p:grpSpPr>
        <p:sp>
          <p:nvSpPr>
            <p:cNvPr id="336" name="Rounded Rectangle"/>
            <p:cNvSpPr/>
            <p:nvPr/>
          </p:nvSpPr>
          <p:spPr>
            <a:xfrm>
              <a:off x="-54311" y="1028646"/>
              <a:ext cx="4279601" cy="241920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>
              <a:solidFill>
                <a:srgbClr val="44546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endParaRPr/>
            </a:p>
          </p:txBody>
        </p:sp>
        <p:sp>
          <p:nvSpPr>
            <p:cNvPr id="337" name="Diagnosi (variabile risposta)…"/>
            <p:cNvSpPr txBox="1"/>
            <p:nvPr/>
          </p:nvSpPr>
          <p:spPr>
            <a:xfrm>
              <a:off x="132383" y="0"/>
              <a:ext cx="4014834" cy="359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>
                <a:defRPr sz="2400" b="1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rPr dirty="0" err="1"/>
                <a:t>Diagnosi</a:t>
              </a:r>
              <a:r>
                <a:rPr dirty="0"/>
                <a:t> (</a:t>
              </a:r>
              <a:r>
                <a:rPr dirty="0" err="1"/>
                <a:t>variabile</a:t>
              </a:r>
              <a:r>
                <a:rPr dirty="0"/>
                <a:t> </a:t>
              </a:r>
              <a:r>
                <a:rPr dirty="0" err="1"/>
                <a:t>risposta</a:t>
              </a:r>
              <a:r>
                <a:rPr dirty="0"/>
                <a:t>)</a:t>
              </a:r>
            </a:p>
            <a:p>
              <a:pPr>
                <a:defRPr sz="2400" b="1">
                  <a:latin typeface="Proxima Nova"/>
                  <a:ea typeface="Proxima Nova"/>
                  <a:cs typeface="Proxima Nova"/>
                  <a:sym typeface="Proxima Nova"/>
                </a:defRPr>
              </a:pPr>
              <a:endParaRPr dirty="0"/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rPr dirty="0" err="1"/>
                <a:t>Diabete</a:t>
              </a:r>
              <a:endParaRPr dirty="0"/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rPr dirty="0" err="1"/>
                <a:t>Insufficienza</a:t>
              </a:r>
              <a:r>
                <a:rPr dirty="0"/>
                <a:t> </a:t>
              </a:r>
              <a:r>
                <a:rPr dirty="0" err="1"/>
                <a:t>renale</a:t>
              </a:r>
              <a:endParaRPr dirty="0"/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rPr dirty="0" err="1"/>
                <a:t>Malattie</a:t>
              </a:r>
              <a:r>
                <a:rPr dirty="0"/>
                <a:t> </a:t>
              </a:r>
              <a:r>
                <a:rPr dirty="0" err="1"/>
                <a:t>respiratorie</a:t>
              </a:r>
              <a:endParaRPr dirty="0"/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rPr dirty="0" err="1"/>
                <a:t>Malattie</a:t>
              </a:r>
              <a:r>
                <a:rPr dirty="0"/>
                <a:t> cardio-</a:t>
              </a:r>
              <a:r>
                <a:rPr dirty="0" err="1"/>
                <a:t>vascolari</a:t>
              </a:r>
              <a:endParaRPr dirty="0"/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rPr dirty="0" err="1"/>
                <a:t>Tumori</a:t>
              </a:r>
              <a:endParaRPr dirty="0"/>
            </a:p>
          </p:txBody>
        </p:sp>
      </p:grpSp>
      <p:sp>
        <p:nvSpPr>
          <p:cNvPr id="339" name="Google Shape;169;p25"/>
          <p:cNvSpPr/>
          <p:nvPr/>
        </p:nvSpPr>
        <p:spPr>
          <a:xfrm>
            <a:off x="680067" y="2536700"/>
            <a:ext cx="584801" cy="584801"/>
          </a:xfrm>
          <a:prstGeom prst="ellipse">
            <a:avLst/>
          </a:prstGeom>
          <a:ln w="28575">
            <a:solidFill>
              <a:srgbClr val="44546A"/>
            </a:solidFill>
          </a:ln>
        </p:spPr>
        <p:txBody>
          <a:bodyPr lIns="45719" rIns="45719" anchor="ctr"/>
          <a:lstStyle/>
          <a:p>
            <a:pPr algn="ctr">
              <a:defRPr sz="2400">
                <a:latin typeface="Proxima Nova"/>
                <a:ea typeface="Proxima Nova"/>
                <a:cs typeface="Proxima Nova"/>
                <a:sym typeface="Proxima Nova"/>
              </a:defRPr>
            </a:pPr>
            <a:endParaRPr/>
          </a:p>
        </p:txBody>
      </p:sp>
      <p:sp>
        <p:nvSpPr>
          <p:cNvPr id="340" name="Google Shape;170;p25"/>
          <p:cNvSpPr/>
          <p:nvPr/>
        </p:nvSpPr>
        <p:spPr>
          <a:xfrm flipH="1">
            <a:off x="734377" y="3121499"/>
            <a:ext cx="238090" cy="1342924"/>
          </a:xfrm>
          <a:prstGeom prst="line">
            <a:avLst/>
          </a:prstGeom>
          <a:ln w="28575">
            <a:solidFill>
              <a:srgbClr val="44546A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43" name="Google Shape;171;p25"/>
          <p:cNvGrpSpPr/>
          <p:nvPr/>
        </p:nvGrpSpPr>
        <p:grpSpPr>
          <a:xfrm>
            <a:off x="6847680" y="3323334"/>
            <a:ext cx="4279602" cy="3596601"/>
            <a:chOff x="-131287" y="1"/>
            <a:chExt cx="4279601" cy="3596600"/>
          </a:xfrm>
        </p:grpSpPr>
        <p:sp>
          <p:nvSpPr>
            <p:cNvPr id="341" name="Rounded Rectangle"/>
            <p:cNvSpPr/>
            <p:nvPr/>
          </p:nvSpPr>
          <p:spPr>
            <a:xfrm>
              <a:off x="-131287" y="1028647"/>
              <a:ext cx="4279601" cy="241920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endParaRPr/>
            </a:p>
          </p:txBody>
        </p:sp>
        <p:sp>
          <p:nvSpPr>
            <p:cNvPr id="342" name="Fattori di rischio individuali…"/>
            <p:cNvSpPr txBox="1"/>
            <p:nvPr/>
          </p:nvSpPr>
          <p:spPr>
            <a:xfrm>
              <a:off x="132383" y="1"/>
              <a:ext cx="4014834" cy="359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>
                <a:defRPr sz="2400" b="1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t>Fattori di rischio individuali</a:t>
              </a:r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t>Sesso alla nascita</a:t>
              </a:r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t>Età</a:t>
              </a:r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t>Sesso:Età </a:t>
              </a:r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t>Status economico (H/L) </a:t>
              </a:r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t>Livello di istruzione (H/L) </a:t>
              </a:r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t>Fumatore (Y/N)</a:t>
              </a:r>
            </a:p>
          </p:txBody>
        </p:sp>
      </p:grpSp>
      <p:sp>
        <p:nvSpPr>
          <p:cNvPr id="344" name="Google Shape;172;p25"/>
          <p:cNvSpPr/>
          <p:nvPr/>
        </p:nvSpPr>
        <p:spPr>
          <a:xfrm>
            <a:off x="8162866" y="2516333"/>
            <a:ext cx="446401" cy="446401"/>
          </a:xfrm>
          <a:prstGeom prst="ellipse">
            <a:avLst/>
          </a:prstGeom>
          <a:ln w="28575">
            <a:solidFill>
              <a:schemeClr val="accent5"/>
            </a:solidFill>
          </a:ln>
        </p:spPr>
        <p:txBody>
          <a:bodyPr lIns="45719" rIns="45719" anchor="ctr"/>
          <a:lstStyle/>
          <a:p>
            <a:pPr algn="ctr">
              <a:defRPr sz="2400">
                <a:latin typeface="Proxima Nova"/>
                <a:ea typeface="Proxima Nova"/>
                <a:cs typeface="Proxima Nova"/>
                <a:sym typeface="Proxima Nova"/>
              </a:defRPr>
            </a:pPr>
            <a:endParaRPr/>
          </a:p>
        </p:txBody>
      </p:sp>
      <p:sp>
        <p:nvSpPr>
          <p:cNvPr id="345" name="Google Shape;173;p25"/>
          <p:cNvSpPr/>
          <p:nvPr/>
        </p:nvSpPr>
        <p:spPr>
          <a:xfrm>
            <a:off x="8453887" y="2962735"/>
            <a:ext cx="1789965" cy="1342924"/>
          </a:xfrm>
          <a:prstGeom prst="line">
            <a:avLst/>
          </a:prstGeom>
          <a:ln w="28575">
            <a:solidFill>
              <a:schemeClr val="accent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178;p26"/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>
            <a:normAutofit fontScale="90000"/>
          </a:bodyPr>
          <a:lstStyle>
            <a:lvl1pPr>
              <a:defRPr sz="3900"/>
            </a:lvl1pPr>
          </a:lstStyle>
          <a:p>
            <a:r>
              <a:t>Dipendenza spazio-temporale</a:t>
            </a:r>
          </a:p>
        </p:txBody>
      </p:sp>
      <p:sp>
        <p:nvSpPr>
          <p:cNvPr id="348" name="Google Shape;179;p26"/>
          <p:cNvSpPr txBox="1">
            <a:spLocks noGrp="1"/>
          </p:cNvSpPr>
          <p:nvPr>
            <p:ph type="body" sz="quarter" idx="1"/>
          </p:nvPr>
        </p:nvSpPr>
        <p:spPr>
          <a:xfrm>
            <a:off x="415599" y="5758832"/>
            <a:ext cx="11360802" cy="983602"/>
          </a:xfrm>
          <a:prstGeom prst="rect">
            <a:avLst/>
          </a:prstGeom>
        </p:spPr>
        <p:txBody>
          <a:bodyPr lIns="121899" tIns="121899" rIns="121899" bIns="121899"/>
          <a:lstStyle/>
          <a:p>
            <a:pPr marL="0" indent="0">
              <a:spcBef>
                <a:spcPts val="1600"/>
              </a:spcBef>
              <a:buSzTx/>
              <a:buNone/>
            </a:pPr>
            <a:r>
              <a:t>Cosa potrebbe spiegare questa </a:t>
            </a:r>
            <a:r>
              <a:rPr b="1"/>
              <a:t>variabilità</a:t>
            </a:r>
            <a:r>
              <a:t>?</a:t>
            </a:r>
          </a:p>
        </p:txBody>
      </p:sp>
      <p:sp>
        <p:nvSpPr>
          <p:cNvPr id="349" name="Google Shape;180;p26"/>
          <p:cNvSpPr txBox="1">
            <a:spLocks noGrp="1"/>
          </p:cNvSpPr>
          <p:nvPr>
            <p:ph type="sldNum" sz="quarter" idx="4294967295"/>
          </p:nvPr>
        </p:nvSpPr>
        <p:spPr>
          <a:xfrm>
            <a:off x="11617227" y="6279690"/>
            <a:ext cx="410985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pic>
        <p:nvPicPr>
          <p:cNvPr id="350" name="Google Shape;181;p26" descr="Google Shape;181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6" y="1527284"/>
            <a:ext cx="10262126" cy="4061250"/>
          </a:xfrm>
          <a:prstGeom prst="rect">
            <a:avLst/>
          </a:prstGeom>
          <a:ln w="12700">
            <a:miter lim="400000"/>
          </a:ln>
        </p:spPr>
      </p:pic>
      <p:sp>
        <p:nvSpPr>
          <p:cNvPr id="351" name="Google Shape;182;p26"/>
          <p:cNvSpPr/>
          <p:nvPr/>
        </p:nvSpPr>
        <p:spPr>
          <a:xfrm flipV="1">
            <a:off x="6212499" y="4902232"/>
            <a:ext cx="1224001" cy="993201"/>
          </a:xfrm>
          <a:prstGeom prst="line">
            <a:avLst/>
          </a:prstGeom>
          <a:ln w="38100">
            <a:solidFill>
              <a:srgbClr val="44546A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2" name="Google Shape;183;p26"/>
          <p:cNvSpPr/>
          <p:nvPr/>
        </p:nvSpPr>
        <p:spPr>
          <a:xfrm flipV="1">
            <a:off x="5124270" y="3061699"/>
            <a:ext cx="1" cy="2777601"/>
          </a:xfrm>
          <a:prstGeom prst="line">
            <a:avLst/>
          </a:prstGeom>
          <a:ln w="38100">
            <a:solidFill>
              <a:srgbClr val="44546A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188;p27"/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>
            <a:normAutofit fontScale="90000"/>
          </a:bodyPr>
          <a:lstStyle/>
          <a:p>
            <a:pPr>
              <a:defRPr sz="3900"/>
            </a:pPr>
            <a:r>
              <a:t>Modello logistico multivariato </a:t>
            </a:r>
            <a:r>
              <a:rPr i="1"/>
              <a:t>gerarchico</a:t>
            </a:r>
          </a:p>
        </p:txBody>
      </p:sp>
      <p:sp>
        <p:nvSpPr>
          <p:cNvPr id="355" name="Google Shape;189;p27"/>
          <p:cNvSpPr txBox="1">
            <a:spLocks noGrp="1"/>
          </p:cNvSpPr>
          <p:nvPr>
            <p:ph type="body" idx="1"/>
          </p:nvPr>
        </p:nvSpPr>
        <p:spPr>
          <a:xfrm>
            <a:off x="415599" y="1536632"/>
            <a:ext cx="11360802" cy="4555202"/>
          </a:xfrm>
          <a:prstGeom prst="rect">
            <a:avLst/>
          </a:prstGeom>
        </p:spPr>
        <p:txBody>
          <a:bodyPr lIns="121899" tIns="121899" rIns="121899" bIns="121899"/>
          <a:lstStyle>
            <a:lvl1pPr marL="0" indent="0">
              <a:spcBef>
                <a:spcPts val="1600"/>
              </a:spcBef>
              <a:buSzTx/>
              <a:buNone/>
            </a:lvl1pPr>
          </a:lstStyle>
          <a:p>
            <a:r>
              <a:t>Includiamo effetti spazio-temporali</a:t>
            </a:r>
          </a:p>
        </p:txBody>
      </p:sp>
      <p:sp>
        <p:nvSpPr>
          <p:cNvPr id="356" name="Google Shape;190;p27"/>
          <p:cNvSpPr txBox="1">
            <a:spLocks noGrp="1"/>
          </p:cNvSpPr>
          <p:nvPr>
            <p:ph type="sldNum" sz="quarter" idx="4294967295"/>
          </p:nvPr>
        </p:nvSpPr>
        <p:spPr>
          <a:xfrm>
            <a:off x="11617227" y="6279690"/>
            <a:ext cx="410985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pic>
        <p:nvPicPr>
          <p:cNvPr id="357" name="Google Shape;191;p27" descr="Google Shape;191;p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0" y="2357733"/>
            <a:ext cx="11082233" cy="7636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60" name="Google Shape;192;p27"/>
          <p:cNvGrpSpPr/>
          <p:nvPr/>
        </p:nvGrpSpPr>
        <p:grpSpPr>
          <a:xfrm>
            <a:off x="5886451" y="3566566"/>
            <a:ext cx="5313384" cy="2897604"/>
            <a:chOff x="0" y="349499"/>
            <a:chExt cx="7668801" cy="2897602"/>
          </a:xfrm>
        </p:grpSpPr>
        <p:sp>
          <p:nvSpPr>
            <p:cNvPr id="358" name="Rounded Rectangle"/>
            <p:cNvSpPr/>
            <p:nvPr/>
          </p:nvSpPr>
          <p:spPr>
            <a:xfrm>
              <a:off x="0" y="349499"/>
              <a:ext cx="7668801" cy="289760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>
              <a:solidFill>
                <a:schemeClr val="accent3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 b="1">
                  <a:latin typeface="Proxima Nova"/>
                  <a:ea typeface="Proxima Nova"/>
                  <a:cs typeface="Proxima Nova"/>
                  <a:sym typeface="Proxima Nova"/>
                </a:defRPr>
              </a:pPr>
              <a:endParaRPr/>
            </a:p>
          </p:txBody>
        </p:sp>
        <p:sp>
          <p:nvSpPr>
            <p:cNvPr id="359" name="Matrice dei coefficienti…"/>
            <p:cNvSpPr txBox="1"/>
            <p:nvPr/>
          </p:nvSpPr>
          <p:spPr>
            <a:xfrm>
              <a:off x="155736" y="567215"/>
              <a:ext cx="7357328" cy="24621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>
                <a:defRPr sz="2400" b="1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rPr sz="2000" dirty="0"/>
                <a:t>Matrice </a:t>
              </a:r>
              <a:r>
                <a:rPr sz="2000" dirty="0" err="1"/>
                <a:t>dei</a:t>
              </a:r>
              <a:r>
                <a:rPr sz="2000" dirty="0"/>
                <a:t> </a:t>
              </a:r>
              <a:r>
                <a:rPr sz="2000" dirty="0" err="1"/>
                <a:t>coefficienti</a:t>
              </a:r>
              <a:endParaRPr sz="2000" dirty="0"/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rPr sz="2000" dirty="0" err="1"/>
                <a:t>Elemento</a:t>
              </a:r>
              <a:r>
                <a:rPr sz="2000" dirty="0"/>
                <a:t> </a:t>
              </a:r>
              <a:r>
                <a:rPr sz="2000" dirty="0" err="1"/>
                <a:t>generico</a:t>
              </a:r>
              <a:r>
                <a:rPr sz="2000" dirty="0"/>
                <a:t> è</a:t>
              </a:r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endParaRPr sz="2000" dirty="0"/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rPr sz="2000" dirty="0"/>
                <a:t>I </a:t>
              </a:r>
              <a:r>
                <a:rPr sz="2000" dirty="0" err="1"/>
                <a:t>coefficienti</a:t>
              </a:r>
              <a:r>
                <a:rPr sz="2000" dirty="0"/>
                <a:t> del </a:t>
              </a:r>
              <a:r>
                <a:rPr sz="2000" dirty="0" err="1"/>
                <a:t>soggetto</a:t>
              </a:r>
              <a:r>
                <a:rPr sz="2000" dirty="0"/>
                <a:t> </a:t>
              </a:r>
              <a:r>
                <a:rPr sz="2000" i="1" dirty="0" err="1"/>
                <a:t>i</a:t>
              </a:r>
              <a:r>
                <a:rPr sz="2000" dirty="0"/>
                <a:t> </a:t>
              </a:r>
              <a:r>
                <a:rPr sz="2000" dirty="0" err="1"/>
                <a:t>sono</a:t>
              </a:r>
              <a:r>
                <a:rPr sz="2000" dirty="0"/>
                <a:t> </a:t>
              </a:r>
              <a:r>
                <a:rPr sz="2000" dirty="0" err="1"/>
                <a:t>caratterizzati</a:t>
              </a:r>
              <a:r>
                <a:rPr sz="2000" dirty="0"/>
                <a:t> da:</a:t>
              </a:r>
            </a:p>
            <a:p>
              <a:pPr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endParaRPr sz="2000" dirty="0"/>
            </a:p>
            <a:p>
              <a:pPr marL="609584" indent="-423322">
                <a:buSzPts val="2400"/>
                <a:buFont typeface="Proxima Nova"/>
                <a:buChar char="●"/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rPr sz="2000" dirty="0"/>
                <a:t>   </a:t>
              </a:r>
              <a:r>
                <a:rPr sz="2000" dirty="0" err="1"/>
                <a:t>luogo</a:t>
              </a:r>
              <a:r>
                <a:rPr sz="2000" dirty="0"/>
                <a:t> (ASL) </a:t>
              </a:r>
              <a:r>
                <a:rPr sz="2000" dirty="0" err="1"/>
                <a:t>nel</a:t>
              </a:r>
              <a:r>
                <a:rPr sz="2000" dirty="0"/>
                <a:t> quale </a:t>
              </a:r>
              <a:r>
                <a:rPr sz="2000" dirty="0" err="1"/>
                <a:t>vive</a:t>
              </a:r>
              <a:r>
                <a:rPr sz="2000" dirty="0"/>
                <a:t> il </a:t>
              </a:r>
              <a:r>
                <a:rPr sz="2000" dirty="0" err="1"/>
                <a:t>soggetto</a:t>
              </a:r>
              <a:endParaRPr sz="2000" dirty="0"/>
            </a:p>
            <a:p>
              <a:pPr marL="609584" indent="-423322">
                <a:buSzPts val="2400"/>
                <a:buFont typeface="Proxima Nova"/>
                <a:buChar char="●"/>
                <a:defRPr sz="2400"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rPr sz="2000" dirty="0"/>
                <a:t>   </a:t>
              </a:r>
              <a:r>
                <a:rPr sz="2000" dirty="0" err="1"/>
                <a:t>coorte</a:t>
              </a:r>
              <a:r>
                <a:rPr sz="2000" dirty="0"/>
                <a:t> di </a:t>
              </a:r>
              <a:r>
                <a:rPr sz="2000" dirty="0" err="1"/>
                <a:t>nascita</a:t>
              </a:r>
              <a:r>
                <a:rPr sz="2000" dirty="0"/>
                <a:t> del </a:t>
              </a:r>
              <a:r>
                <a:rPr sz="2000" dirty="0" err="1"/>
                <a:t>soggetto</a:t>
              </a:r>
              <a:endParaRPr sz="2000" dirty="0"/>
            </a:p>
          </p:txBody>
        </p:sp>
      </p:grpSp>
      <p:sp>
        <p:nvSpPr>
          <p:cNvPr id="361" name="Google Shape;193;p27"/>
          <p:cNvSpPr/>
          <p:nvPr/>
        </p:nvSpPr>
        <p:spPr>
          <a:xfrm>
            <a:off x="7219067" y="2447132"/>
            <a:ext cx="1023201" cy="584801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lIns="45719" rIns="45719" anchor="ctr"/>
          <a:lstStyle/>
          <a:p>
            <a:pPr algn="ctr">
              <a:defRPr sz="2400">
                <a:latin typeface="Proxima Nova"/>
                <a:ea typeface="Proxima Nova"/>
                <a:cs typeface="Proxima Nova"/>
                <a:sym typeface="Proxima Nova"/>
              </a:defRPr>
            </a:pPr>
            <a:endParaRPr/>
          </a:p>
        </p:txBody>
      </p:sp>
      <p:sp>
        <p:nvSpPr>
          <p:cNvPr id="362" name="Google Shape;194;p27"/>
          <p:cNvSpPr/>
          <p:nvPr/>
        </p:nvSpPr>
        <p:spPr>
          <a:xfrm>
            <a:off x="7730666" y="3031932"/>
            <a:ext cx="1" cy="508001"/>
          </a:xfrm>
          <a:prstGeom prst="line">
            <a:avLst/>
          </a:prstGeom>
          <a:ln w="28575">
            <a:solidFill>
              <a:schemeClr val="accent3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63" name="Google Shape;195;p27" descr="Google Shape;195;p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718" y="4066932"/>
            <a:ext cx="1350822" cy="3597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64" name="Google Shape;196;p27" descr="Google Shape;196;p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117" y="5481651"/>
            <a:ext cx="210898" cy="3597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65" name="Google Shape;197;p27" descr="Google Shape;197;p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811" y="6084750"/>
            <a:ext cx="262204" cy="3597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B65D2243-12FF-9D62-60F3-CC0B1CD5DBD3}"/>
              </a:ext>
            </a:extLst>
          </p:cNvPr>
          <p:cNvSpPr/>
          <p:nvPr/>
        </p:nvSpPr>
        <p:spPr>
          <a:xfrm>
            <a:off x="415599" y="3991539"/>
            <a:ext cx="5192284" cy="1634488"/>
          </a:xfrm>
          <a:prstGeom prst="round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en-US" dirty="0" err="1"/>
              <a:t>Stival</a:t>
            </a:r>
            <a:r>
              <a:rPr lang="en-US" dirty="0"/>
              <a:t>, M., Schiavon, L., &amp; Campostrini, S. (2024). A Bayesian approach to model local and temporal heterogeneity in repeated cross-sectional health surveys. </a:t>
            </a:r>
            <a:r>
              <a:rPr lang="en-US" i="1" dirty="0"/>
              <a:t>Journal of the Royal Statistical Society Series A: Statistics in Society</a:t>
            </a:r>
            <a:r>
              <a:rPr lang="en-US" dirty="0"/>
              <a:t>, qnae138.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248;p33"/>
          <p:cNvSpPr txBox="1">
            <a:spLocks noGrp="1"/>
          </p:cNvSpPr>
          <p:nvPr>
            <p:ph type="sldNum" sz="quarter" idx="4294967295"/>
          </p:nvPr>
        </p:nvSpPr>
        <p:spPr>
          <a:xfrm>
            <a:off x="11617227" y="6279690"/>
            <a:ext cx="410985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grpSp>
        <p:nvGrpSpPr>
          <p:cNvPr id="370" name="Google Shape;250;p33"/>
          <p:cNvGrpSpPr/>
          <p:nvPr/>
        </p:nvGrpSpPr>
        <p:grpSpPr>
          <a:xfrm>
            <a:off x="4106043" y="2657107"/>
            <a:ext cx="212933" cy="204828"/>
            <a:chOff x="0" y="0"/>
            <a:chExt cx="212931" cy="204827"/>
          </a:xfrm>
        </p:grpSpPr>
        <p:sp>
          <p:nvSpPr>
            <p:cNvPr id="368" name="Google Shape;251;p33"/>
            <p:cNvSpPr/>
            <p:nvPr/>
          </p:nvSpPr>
          <p:spPr>
            <a:xfrm>
              <a:off x="33676" y="32566"/>
              <a:ext cx="145581" cy="139759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  <a:endParaRPr/>
            </a:p>
          </p:txBody>
        </p:sp>
        <p:pic>
          <p:nvPicPr>
            <p:cNvPr id="369" name="Google Shape;252;p33" descr="Google Shape;252;p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12932" cy="2048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73" name="Google Shape;253;p33"/>
          <p:cNvGrpSpPr/>
          <p:nvPr/>
        </p:nvGrpSpPr>
        <p:grpSpPr>
          <a:xfrm>
            <a:off x="4365764" y="2729228"/>
            <a:ext cx="450074" cy="335445"/>
            <a:chOff x="0" y="0"/>
            <a:chExt cx="450073" cy="335444"/>
          </a:xfrm>
        </p:grpSpPr>
        <p:sp>
          <p:nvSpPr>
            <p:cNvPr id="371" name="Google Shape;254;p33"/>
            <p:cNvSpPr/>
            <p:nvPr/>
          </p:nvSpPr>
          <p:spPr>
            <a:xfrm>
              <a:off x="44902" y="43418"/>
              <a:ext cx="360371" cy="248719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  <a:endParaRPr/>
            </a:p>
          </p:txBody>
        </p:sp>
        <p:pic>
          <p:nvPicPr>
            <p:cNvPr id="372" name="Google Shape;255;p33" descr="Google Shape;255;p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1"/>
              <a:ext cx="450074" cy="3354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76" name="Google Shape;256;p33"/>
          <p:cNvGrpSpPr/>
          <p:nvPr/>
        </p:nvGrpSpPr>
        <p:grpSpPr>
          <a:xfrm>
            <a:off x="4901548" y="2066159"/>
            <a:ext cx="2757551" cy="1202107"/>
            <a:chOff x="0" y="0"/>
            <a:chExt cx="2757550" cy="1202105"/>
          </a:xfrm>
        </p:grpSpPr>
        <p:sp>
          <p:nvSpPr>
            <p:cNvPr id="374" name="Oval"/>
            <p:cNvSpPr/>
            <p:nvPr/>
          </p:nvSpPr>
          <p:spPr>
            <a:xfrm>
              <a:off x="-1" y="0"/>
              <a:ext cx="2757552" cy="1202106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  <a:endParaRPr/>
            </a:p>
          </p:txBody>
        </p:sp>
        <p:sp>
          <p:nvSpPr>
            <p:cNvPr id="375" name="All models are wrong, but some are useful"/>
            <p:cNvSpPr txBox="1"/>
            <p:nvPr/>
          </p:nvSpPr>
          <p:spPr>
            <a:xfrm>
              <a:off x="403834" y="331140"/>
              <a:ext cx="1949881" cy="539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0932" tIns="60932" rIns="60932" bIns="60932" numCol="1" anchor="ctr">
              <a:spAutoFit/>
            </a:bodyPr>
            <a:lstStyle>
              <a:lvl1pPr algn="ctr">
                <a:defRPr sz="1400" b="1" i="1"/>
              </a:lvl1pPr>
            </a:lstStyle>
            <a:p>
              <a:r>
                <a:t>All models are wrong, but some are useful</a:t>
              </a:r>
            </a:p>
          </p:txBody>
        </p:sp>
      </p:grpSp>
      <p:grpSp>
        <p:nvGrpSpPr>
          <p:cNvPr id="385" name="Google Shape;257;p33"/>
          <p:cNvGrpSpPr/>
          <p:nvPr/>
        </p:nvGrpSpPr>
        <p:grpSpPr>
          <a:xfrm>
            <a:off x="667940" y="2062374"/>
            <a:ext cx="3414796" cy="4044096"/>
            <a:chOff x="-1" y="61694"/>
            <a:chExt cx="3414795" cy="4044096"/>
          </a:xfrm>
        </p:grpSpPr>
        <p:pic>
          <p:nvPicPr>
            <p:cNvPr id="377" name="Google Shape;258;p33" descr="Google Shape;258;p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8002" y="1735268"/>
              <a:ext cx="1939767" cy="14175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8" name="Google Shape;259;p33" descr="Google Shape;259;p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9474" y="415736"/>
              <a:ext cx="1198051" cy="15564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9" name="Google Shape;260;p33"/>
            <p:cNvSpPr txBox="1"/>
            <p:nvPr/>
          </p:nvSpPr>
          <p:spPr>
            <a:xfrm>
              <a:off x="601392" y="61694"/>
              <a:ext cx="2476799" cy="822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0932" tIns="60932" rIns="60932" bIns="60932" numCol="1" anchor="t">
              <a:spAutoFit/>
            </a:bodyPr>
            <a:lstStyle>
              <a:lvl1pPr>
                <a:defRPr sz="2200" b="1" i="1">
                  <a:latin typeface="Proxima Nova"/>
                  <a:ea typeface="Proxima Nova"/>
                  <a:cs typeface="Proxima Nova"/>
                  <a:sym typeface="Proxima Nova"/>
                </a:defRPr>
              </a:lvl1pPr>
            </a:lstStyle>
            <a:p>
              <a:r>
                <a:rPr dirty="0"/>
                <a:t>STATISTICIANSS</a:t>
              </a:r>
            </a:p>
          </p:txBody>
        </p:sp>
        <p:pic>
          <p:nvPicPr>
            <p:cNvPr id="380" name="Google Shape;261;p33" descr="Google Shape;261;p3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19911" y="1955088"/>
              <a:ext cx="1194883" cy="17521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1" name="Google Shape;262;p33" descr="Google Shape;262;p3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1" y="1668566"/>
              <a:ext cx="1124376" cy="19486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2" name="Google Shape;263;p33" descr="Google Shape;263;p3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8535" y="419176"/>
              <a:ext cx="1177633" cy="17250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3" name="Google Shape;264;p33" descr="Google Shape;264;p3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93820" y="2688243"/>
              <a:ext cx="1356646" cy="14175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4" name="Google Shape;265;p33" descr="Google Shape;265;p3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725" y="412207"/>
              <a:ext cx="1167780" cy="1531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86" name="Google Shape;266;p33" descr="Google Shape;266;p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6811" y="4688699"/>
            <a:ext cx="1200390" cy="1202201"/>
          </a:xfrm>
          <a:prstGeom prst="rect">
            <a:avLst/>
          </a:prstGeom>
          <a:ln w="12700">
            <a:miter lim="400000"/>
          </a:ln>
        </p:spPr>
      </p:pic>
      <p:sp>
        <p:nvSpPr>
          <p:cNvPr id="387" name="Google Shape;267;p33"/>
          <p:cNvSpPr txBox="1"/>
          <p:nvPr/>
        </p:nvSpPr>
        <p:spPr>
          <a:xfrm>
            <a:off x="8580765" y="2138366"/>
            <a:ext cx="2516401" cy="629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>
              <a:defRPr sz="1700" b="1" i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PUBLIC HEALTH</a:t>
            </a:r>
            <a:endParaRPr sz="200"/>
          </a:p>
          <a:p>
            <a:pPr>
              <a:defRPr sz="1700" b="1" i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STAKEHOLDERS</a:t>
            </a:r>
          </a:p>
        </p:txBody>
      </p:sp>
      <p:sp>
        <p:nvSpPr>
          <p:cNvPr id="388" name="Google Shape;268;p33"/>
          <p:cNvSpPr txBox="1"/>
          <p:nvPr/>
        </p:nvSpPr>
        <p:spPr>
          <a:xfrm>
            <a:off x="8429001" y="2919966"/>
            <a:ext cx="2506467" cy="769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 marL="320831" indent="-244634">
              <a:buClr>
                <a:srgbClr val="000000"/>
              </a:buClr>
              <a:buSzPts val="1400"/>
              <a:buFont typeface="Proxima Nova"/>
              <a:buChar char="-"/>
              <a:defRPr sz="14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POLICY MAKERS</a:t>
            </a:r>
            <a:endParaRPr sz="600"/>
          </a:p>
          <a:p>
            <a:pPr marL="320831" indent="-244634">
              <a:buClr>
                <a:srgbClr val="000000"/>
              </a:buClr>
              <a:buSzPts val="1400"/>
              <a:buFont typeface="Proxima Nova"/>
              <a:buChar char="-"/>
              <a:defRPr sz="14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MD</a:t>
            </a:r>
            <a:endParaRPr sz="600"/>
          </a:p>
          <a:p>
            <a:pPr marL="320831" indent="-244634">
              <a:buClr>
                <a:srgbClr val="000000"/>
              </a:buClr>
              <a:buSzPts val="1400"/>
              <a:buFont typeface="Proxima Nova"/>
              <a:buChar char="-"/>
              <a:defRPr sz="14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ASL WORKERS</a:t>
            </a:r>
          </a:p>
        </p:txBody>
      </p:sp>
      <p:grpSp>
        <p:nvGrpSpPr>
          <p:cNvPr id="391" name="Google Shape;269;p33"/>
          <p:cNvGrpSpPr/>
          <p:nvPr/>
        </p:nvGrpSpPr>
        <p:grpSpPr>
          <a:xfrm>
            <a:off x="8368034" y="4809301"/>
            <a:ext cx="2200100" cy="807667"/>
            <a:chOff x="0" y="0"/>
            <a:chExt cx="2200099" cy="807666"/>
          </a:xfrm>
        </p:grpSpPr>
        <p:sp>
          <p:nvSpPr>
            <p:cNvPr id="389" name="Rectangle"/>
            <p:cNvSpPr/>
            <p:nvPr/>
          </p:nvSpPr>
          <p:spPr>
            <a:xfrm>
              <a:off x="0" y="22298"/>
              <a:ext cx="2200100" cy="763070"/>
            </a:xfrm>
            <a:prstGeom prst="rect">
              <a:avLst/>
            </a:prstGeom>
            <a:solidFill>
              <a:srgbClr val="FFFFFF"/>
            </a:solidFill>
            <a:ln w="571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500">
                  <a:latin typeface="Proxima Nova"/>
                  <a:ea typeface="Proxima Nova"/>
                  <a:cs typeface="Proxima Nova"/>
                  <a:sym typeface="Proxima Nova"/>
                </a:defRPr>
              </a:pPr>
              <a:endParaRPr/>
            </a:p>
          </p:txBody>
        </p:sp>
        <p:sp>
          <p:nvSpPr>
            <p:cNvPr id="390" name="Actionable results"/>
            <p:cNvSpPr txBox="1"/>
            <p:nvPr/>
          </p:nvSpPr>
          <p:spPr>
            <a:xfrm>
              <a:off x="28575" y="0"/>
              <a:ext cx="2142950" cy="8076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0932" tIns="60932" rIns="60932" bIns="60932" numCol="1" anchor="ctr">
              <a:spAutoFit/>
            </a:bodyPr>
            <a:lstStyle>
              <a:lvl1pPr algn="ctr">
                <a:defRPr sz="2000" b="1">
                  <a:latin typeface="Proxima Nova"/>
                  <a:ea typeface="Proxima Nova"/>
                  <a:cs typeface="Proxima Nova"/>
                  <a:sym typeface="Proxima Nova"/>
                </a:defRPr>
              </a:lvl1pPr>
            </a:lstStyle>
            <a:p>
              <a:r>
                <a:t>Actionable results</a:t>
              </a:r>
            </a:p>
          </p:txBody>
        </p:sp>
      </p:grpSp>
      <p:sp>
        <p:nvSpPr>
          <p:cNvPr id="392" name="Google Shape;270;p33"/>
          <p:cNvSpPr/>
          <p:nvPr/>
        </p:nvSpPr>
        <p:spPr>
          <a:xfrm>
            <a:off x="6485657" y="4907798"/>
            <a:ext cx="1349869" cy="49083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4E8B"/>
          </a:solidFill>
          <a:ln w="12700">
            <a:solidFill>
              <a:srgbClr val="104E8B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  <a:endParaRPr/>
          </a:p>
        </p:txBody>
      </p:sp>
      <p:sp>
        <p:nvSpPr>
          <p:cNvPr id="393" name="Google Shape;271;p33"/>
          <p:cNvSpPr txBox="1"/>
          <p:nvPr/>
        </p:nvSpPr>
        <p:spPr>
          <a:xfrm>
            <a:off x="4771028" y="4174133"/>
            <a:ext cx="1227612" cy="540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>
            <a:lvl1pPr>
              <a:defRPr sz="2400" b="1"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r>
              <a:t>Model</a:t>
            </a:r>
          </a:p>
        </p:txBody>
      </p:sp>
      <p:pic>
        <p:nvPicPr>
          <p:cNvPr id="394" name="Google Shape;272;p33" descr="Google Shape;272;p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1148" y="2151051"/>
            <a:ext cx="2744216" cy="1242318"/>
          </a:xfrm>
          <a:prstGeom prst="rect">
            <a:avLst/>
          </a:prstGeom>
          <a:ln w="12700">
            <a:miter lim="400000"/>
          </a:ln>
        </p:spPr>
      </p:pic>
      <p:sp>
        <p:nvSpPr>
          <p:cNvPr id="395" name="Google Shape;273;p33"/>
          <p:cNvSpPr txBox="1"/>
          <p:nvPr/>
        </p:nvSpPr>
        <p:spPr>
          <a:xfrm>
            <a:off x="6392233" y="4435933"/>
            <a:ext cx="1640517" cy="44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1899" tIns="121899" rIns="121899" bIns="121899">
            <a:spAutoFit/>
          </a:bodyPr>
          <a:lstStyle>
            <a:lvl1pPr>
              <a:defRPr sz="1300" b="1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r>
              <a:rPr dirty="0"/>
              <a:t>Understanding</a:t>
            </a:r>
          </a:p>
        </p:txBody>
      </p:sp>
      <p:sp>
        <p:nvSpPr>
          <p:cNvPr id="396" name="Google Shape;274;p33"/>
          <p:cNvSpPr txBox="1">
            <a:spLocks noGrp="1"/>
          </p:cNvSpPr>
          <p:nvPr>
            <p:ph type="title"/>
          </p:nvPr>
        </p:nvSpPr>
        <p:spPr>
          <a:xfrm>
            <a:off x="318239" y="1101857"/>
            <a:ext cx="11360802" cy="7636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21899" tIns="121899" rIns="121899" bIns="121899">
            <a:normAutofit/>
          </a:bodyPr>
          <a:lstStyle>
            <a:lvl1pPr defTabSz="521208">
              <a:defRPr sz="2223"/>
            </a:lvl1pPr>
          </a:lstStyle>
          <a:p>
            <a:r>
              <a:rPr dirty="0" err="1"/>
              <a:t>Comunicare</a:t>
            </a:r>
            <a:r>
              <a:rPr dirty="0"/>
              <a:t> </a:t>
            </a:r>
            <a:r>
              <a:rPr dirty="0" err="1"/>
              <a:t>modelli</a:t>
            </a:r>
            <a:r>
              <a:rPr dirty="0"/>
              <a:t> </a:t>
            </a:r>
            <a:r>
              <a:rPr dirty="0" err="1"/>
              <a:t>statistici</a:t>
            </a:r>
            <a:r>
              <a:rPr dirty="0"/>
              <a:t> </a:t>
            </a:r>
            <a:r>
              <a:rPr dirty="0" err="1"/>
              <a:t>complessi</a:t>
            </a:r>
            <a:r>
              <a:rPr dirty="0"/>
              <a:t> ad </a:t>
            </a:r>
            <a:r>
              <a:rPr dirty="0" err="1"/>
              <a:t>esperti</a:t>
            </a:r>
            <a:r>
              <a:rPr dirty="0"/>
              <a:t> di salute </a:t>
            </a:r>
            <a:r>
              <a:rPr dirty="0" err="1"/>
              <a:t>pubblica</a:t>
            </a:r>
            <a:r>
              <a:rPr dirty="0"/>
              <a:t>: </a:t>
            </a:r>
            <a:r>
              <a:rPr dirty="0" err="1"/>
              <a:t>tradurre</a:t>
            </a:r>
            <a:r>
              <a:rPr dirty="0"/>
              <a:t> la </a:t>
            </a:r>
            <a:r>
              <a:rPr dirty="0" err="1"/>
              <a:t>scienza</a:t>
            </a:r>
            <a:r>
              <a:rPr dirty="0"/>
              <a:t> in </a:t>
            </a:r>
            <a:r>
              <a:rPr dirty="0" err="1"/>
              <a:t>azioni</a:t>
            </a:r>
            <a:endParaRPr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279;p34"/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>
            <a:normAutofit fontScale="90000"/>
          </a:bodyPr>
          <a:lstStyle>
            <a:lvl1pPr>
              <a:defRPr sz="3900"/>
            </a:lvl1pPr>
          </a:lstStyle>
          <a:p>
            <a:r>
              <a:t>The FARSI approach</a:t>
            </a:r>
          </a:p>
        </p:txBody>
      </p:sp>
      <p:sp>
        <p:nvSpPr>
          <p:cNvPr id="399" name="Google Shape;280;p34"/>
          <p:cNvSpPr txBox="1">
            <a:spLocks noGrp="1"/>
          </p:cNvSpPr>
          <p:nvPr>
            <p:ph type="sldNum" sz="quarter" idx="4294967295"/>
          </p:nvPr>
        </p:nvSpPr>
        <p:spPr>
          <a:xfrm>
            <a:off x="11617227" y="6279690"/>
            <a:ext cx="410985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400" name="Google Shape;281;p34"/>
          <p:cNvSpPr txBox="1"/>
          <p:nvPr/>
        </p:nvSpPr>
        <p:spPr>
          <a:xfrm>
            <a:off x="1151111" y="1311686"/>
            <a:ext cx="9720402" cy="641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 anchor="ctr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r>
              <a:t>Costruire uno strumento di comunicazione…</a:t>
            </a:r>
          </a:p>
        </p:txBody>
      </p:sp>
      <p:sp>
        <p:nvSpPr>
          <p:cNvPr id="401" name="Google Shape;282;p34"/>
          <p:cNvSpPr txBox="1"/>
          <p:nvPr/>
        </p:nvSpPr>
        <p:spPr>
          <a:xfrm>
            <a:off x="546232" y="1951181"/>
            <a:ext cx="2014802" cy="3563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>
              <a:defRPr sz="2600" b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F</a:t>
            </a:r>
            <a:r>
              <a:rPr b="0"/>
              <a:t>ast</a:t>
            </a:r>
            <a:endParaRPr sz="1400"/>
          </a:p>
          <a:p>
            <a:pPr>
              <a:defRPr sz="2600">
                <a:latin typeface="Proxima Nova"/>
                <a:ea typeface="Proxima Nova"/>
                <a:cs typeface="Proxima Nova"/>
                <a:sym typeface="Proxima Nova"/>
              </a:defRPr>
            </a:pPr>
            <a:endParaRPr sz="1400"/>
          </a:p>
          <a:p>
            <a:pPr>
              <a:defRPr sz="16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The term refers to </a:t>
            </a:r>
            <a:r>
              <a:rPr i="1"/>
              <a:t>all infrastructural aspects</a:t>
            </a:r>
            <a:r>
              <a:t> that guarantee the </a:t>
            </a:r>
            <a:r>
              <a:rPr b="1"/>
              <a:t>efficiency of use</a:t>
            </a:r>
            <a:r>
              <a:t> of a tool, ensuring </a:t>
            </a:r>
            <a:r>
              <a:rPr b="1"/>
              <a:t>quick processing, intuitive access to results</a:t>
            </a:r>
            <a:r>
              <a:t>, and minimal computational delays.</a:t>
            </a:r>
          </a:p>
        </p:txBody>
      </p:sp>
      <p:sp>
        <p:nvSpPr>
          <p:cNvPr id="402" name="Google Shape;283;p34"/>
          <p:cNvSpPr txBox="1"/>
          <p:nvPr/>
        </p:nvSpPr>
        <p:spPr>
          <a:xfrm>
            <a:off x="2780040" y="1951179"/>
            <a:ext cx="2014802" cy="3080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>
              <a:defRPr sz="2600" b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A</a:t>
            </a:r>
            <a:r>
              <a:rPr b="0"/>
              <a:t>ccessible</a:t>
            </a:r>
            <a:endParaRPr sz="1400"/>
          </a:p>
          <a:p>
            <a:pPr>
              <a:defRPr sz="2600">
                <a:latin typeface="Proxima Nova"/>
                <a:ea typeface="Proxima Nova"/>
                <a:cs typeface="Proxima Nova"/>
                <a:sym typeface="Proxima Nova"/>
              </a:defRPr>
            </a:pPr>
            <a:endParaRPr sz="1400"/>
          </a:p>
          <a:p>
            <a:pPr>
              <a:defRPr sz="16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The term refers to a multifaceted requirement that ensures the tool and its related information can be </a:t>
            </a:r>
            <a:r>
              <a:rPr b="1"/>
              <a:t>effectively used and understood by all potential users</a:t>
            </a:r>
            <a:r>
              <a:t>.</a:t>
            </a:r>
          </a:p>
        </p:txBody>
      </p:sp>
      <p:sp>
        <p:nvSpPr>
          <p:cNvPr id="403" name="Google Shape;284;p34"/>
          <p:cNvSpPr txBox="1"/>
          <p:nvPr/>
        </p:nvSpPr>
        <p:spPr>
          <a:xfrm>
            <a:off x="5013847" y="1951179"/>
            <a:ext cx="2014801" cy="3233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>
              <a:defRPr sz="2600" b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R</a:t>
            </a:r>
            <a:r>
              <a:rPr b="0"/>
              <a:t>eliable</a:t>
            </a:r>
            <a:endParaRPr sz="1400"/>
          </a:p>
          <a:p>
            <a:pPr>
              <a:defRPr sz="2000">
                <a:latin typeface="Proxima Nova"/>
                <a:ea typeface="Proxima Nova"/>
                <a:cs typeface="Proxima Nova"/>
                <a:sym typeface="Proxima Nova"/>
              </a:defRPr>
            </a:pPr>
            <a:endParaRPr sz="1400"/>
          </a:p>
          <a:p>
            <a:pPr>
              <a:defRPr sz="16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The term refers to the consistency, accuracy, and </a:t>
            </a:r>
            <a:r>
              <a:rPr b="1"/>
              <a:t>trustworthiness of data, methods, and results</a:t>
            </a:r>
            <a:r>
              <a:t>, ensuring they are validated, reproducible, and derived from credible sources.</a:t>
            </a:r>
          </a:p>
        </p:txBody>
      </p:sp>
      <p:sp>
        <p:nvSpPr>
          <p:cNvPr id="404" name="Google Shape;285;p34"/>
          <p:cNvSpPr txBox="1"/>
          <p:nvPr/>
        </p:nvSpPr>
        <p:spPr>
          <a:xfrm>
            <a:off x="7250090" y="1905067"/>
            <a:ext cx="2014801" cy="2992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>
              <a:defRPr sz="2600" b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S</a:t>
            </a:r>
            <a:r>
              <a:rPr b="0"/>
              <a:t>ecure</a:t>
            </a:r>
            <a:endParaRPr sz="1400"/>
          </a:p>
          <a:p>
            <a:pPr>
              <a:defRPr sz="2000">
                <a:latin typeface="Proxima Nova"/>
                <a:ea typeface="Proxima Nova"/>
                <a:cs typeface="Proxima Nova"/>
                <a:sym typeface="Proxima Nova"/>
              </a:defRPr>
            </a:pPr>
            <a:endParaRPr sz="1400"/>
          </a:p>
          <a:p>
            <a:pPr>
              <a:defRPr sz="16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The term refers to the </a:t>
            </a:r>
            <a:r>
              <a:rPr b="1"/>
              <a:t>protection of data, privacy, and integrity </a:t>
            </a:r>
            <a:r>
              <a:t>by preventing unauthorized access, ensuring compliance, and mitigating misuse.</a:t>
            </a:r>
          </a:p>
        </p:txBody>
      </p:sp>
      <p:sp>
        <p:nvSpPr>
          <p:cNvPr id="405" name="Google Shape;286;p34"/>
          <p:cNvSpPr txBox="1"/>
          <p:nvPr/>
        </p:nvSpPr>
        <p:spPr>
          <a:xfrm>
            <a:off x="9481463" y="1905066"/>
            <a:ext cx="2014801" cy="3474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>
              <a:defRPr sz="2600" b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I</a:t>
            </a:r>
            <a:r>
              <a:rPr b="0"/>
              <a:t>nformative</a:t>
            </a:r>
            <a:endParaRPr sz="1400"/>
          </a:p>
          <a:p>
            <a:pPr>
              <a:defRPr sz="2000">
                <a:latin typeface="Proxima Nova"/>
                <a:ea typeface="Proxima Nova"/>
                <a:cs typeface="Proxima Nova"/>
                <a:sym typeface="Proxima Nova"/>
              </a:defRPr>
            </a:pPr>
            <a:endParaRPr sz="1400"/>
          </a:p>
          <a:p>
            <a:pPr>
              <a:defRPr sz="16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The term refers to the ability of a tool to provide clear, relevant, and comprehensive </a:t>
            </a:r>
            <a:r>
              <a:rPr b="1"/>
              <a:t>insights that enhance users’</a:t>
            </a:r>
            <a:r>
              <a:t> understanding and </a:t>
            </a:r>
            <a:r>
              <a:rPr b="1"/>
              <a:t>support informed decision-making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291;p35"/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>
            <a:normAutofit fontScale="90000"/>
          </a:bodyPr>
          <a:lstStyle>
            <a:lvl1pPr>
              <a:defRPr sz="3900"/>
            </a:lvl1pPr>
          </a:lstStyle>
          <a:p>
            <a:r>
              <a:t>The FARSI approach</a:t>
            </a:r>
          </a:p>
        </p:txBody>
      </p:sp>
      <p:sp>
        <p:nvSpPr>
          <p:cNvPr id="408" name="Google Shape;292;p35"/>
          <p:cNvSpPr txBox="1">
            <a:spLocks noGrp="1"/>
          </p:cNvSpPr>
          <p:nvPr>
            <p:ph type="sldNum" sz="quarter" idx="4294967295"/>
          </p:nvPr>
        </p:nvSpPr>
        <p:spPr>
          <a:xfrm>
            <a:off x="11617227" y="6279690"/>
            <a:ext cx="410985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409" name="Google Shape;293;p35"/>
          <p:cNvSpPr txBox="1"/>
          <p:nvPr/>
        </p:nvSpPr>
        <p:spPr>
          <a:xfrm>
            <a:off x="1151111" y="1311686"/>
            <a:ext cx="9720402" cy="641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 anchor="ctr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r>
              <a:t>Costruire uno strumento di comunicazione…</a:t>
            </a:r>
          </a:p>
        </p:txBody>
      </p:sp>
      <p:sp>
        <p:nvSpPr>
          <p:cNvPr id="410" name="Google Shape;294;p35"/>
          <p:cNvSpPr txBox="1"/>
          <p:nvPr/>
        </p:nvSpPr>
        <p:spPr>
          <a:xfrm>
            <a:off x="546232" y="1951181"/>
            <a:ext cx="2014802" cy="3563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>
              <a:defRPr sz="2600" b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F</a:t>
            </a:r>
            <a:r>
              <a:rPr b="0"/>
              <a:t>ast</a:t>
            </a:r>
            <a:endParaRPr sz="1400"/>
          </a:p>
          <a:p>
            <a:pPr>
              <a:defRPr sz="2600">
                <a:latin typeface="Proxima Nova"/>
                <a:ea typeface="Proxima Nova"/>
                <a:cs typeface="Proxima Nova"/>
                <a:sym typeface="Proxima Nova"/>
              </a:defRPr>
            </a:pPr>
            <a:endParaRPr sz="1400"/>
          </a:p>
          <a:p>
            <a:pPr>
              <a:defRPr sz="16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The term refers to </a:t>
            </a:r>
            <a:r>
              <a:rPr i="1"/>
              <a:t>all infrastructural aspects</a:t>
            </a:r>
            <a:r>
              <a:t> that guarantee the </a:t>
            </a:r>
            <a:r>
              <a:rPr b="1"/>
              <a:t>efficiency of use</a:t>
            </a:r>
            <a:r>
              <a:t> of a tool, ensuring </a:t>
            </a:r>
            <a:r>
              <a:rPr b="1"/>
              <a:t>quick processing, intuitive access to results</a:t>
            </a:r>
            <a:r>
              <a:t>, and minimal computational delays.</a:t>
            </a:r>
          </a:p>
        </p:txBody>
      </p:sp>
      <p:sp>
        <p:nvSpPr>
          <p:cNvPr id="411" name="Google Shape;295;p35"/>
          <p:cNvSpPr txBox="1"/>
          <p:nvPr/>
        </p:nvSpPr>
        <p:spPr>
          <a:xfrm>
            <a:off x="2780040" y="1951179"/>
            <a:ext cx="2014802" cy="3080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>
              <a:defRPr sz="2600" b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A</a:t>
            </a:r>
            <a:r>
              <a:rPr b="0"/>
              <a:t>ccessible</a:t>
            </a:r>
            <a:endParaRPr sz="1400"/>
          </a:p>
          <a:p>
            <a:pPr>
              <a:defRPr sz="2600">
                <a:latin typeface="Proxima Nova"/>
                <a:ea typeface="Proxima Nova"/>
                <a:cs typeface="Proxima Nova"/>
                <a:sym typeface="Proxima Nova"/>
              </a:defRPr>
            </a:pPr>
            <a:endParaRPr sz="1400"/>
          </a:p>
          <a:p>
            <a:pPr>
              <a:defRPr sz="16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The term refers to a multifaceted requirement that ensures the tool and its related information can be </a:t>
            </a:r>
            <a:r>
              <a:rPr b="1"/>
              <a:t>effectively used and understood by all potential users</a:t>
            </a:r>
            <a:r>
              <a:t>.</a:t>
            </a:r>
          </a:p>
        </p:txBody>
      </p:sp>
      <p:sp>
        <p:nvSpPr>
          <p:cNvPr id="412" name="Google Shape;296;p35"/>
          <p:cNvSpPr txBox="1"/>
          <p:nvPr/>
        </p:nvSpPr>
        <p:spPr>
          <a:xfrm>
            <a:off x="5013847" y="1951179"/>
            <a:ext cx="2014801" cy="3233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>
              <a:defRPr sz="2600" b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R</a:t>
            </a:r>
            <a:r>
              <a:rPr b="0"/>
              <a:t>eliable</a:t>
            </a:r>
            <a:endParaRPr sz="1400"/>
          </a:p>
          <a:p>
            <a:pPr>
              <a:defRPr sz="2000">
                <a:latin typeface="Proxima Nova"/>
                <a:ea typeface="Proxima Nova"/>
                <a:cs typeface="Proxima Nova"/>
                <a:sym typeface="Proxima Nova"/>
              </a:defRPr>
            </a:pPr>
            <a:endParaRPr sz="1400"/>
          </a:p>
          <a:p>
            <a:pPr>
              <a:defRPr sz="16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The term refers to the consistency, accuracy, and </a:t>
            </a:r>
            <a:r>
              <a:rPr b="1"/>
              <a:t>trustworthiness of data, methods, and results</a:t>
            </a:r>
            <a:r>
              <a:t>, ensuring they are validated, reproducible, and derived from credible sources.</a:t>
            </a:r>
          </a:p>
        </p:txBody>
      </p:sp>
      <p:sp>
        <p:nvSpPr>
          <p:cNvPr id="413" name="Google Shape;297;p35"/>
          <p:cNvSpPr txBox="1"/>
          <p:nvPr/>
        </p:nvSpPr>
        <p:spPr>
          <a:xfrm>
            <a:off x="7250090" y="1905067"/>
            <a:ext cx="2014801" cy="2992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>
              <a:defRPr sz="2600" b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S</a:t>
            </a:r>
            <a:r>
              <a:rPr b="0"/>
              <a:t>ecure</a:t>
            </a:r>
            <a:endParaRPr sz="1400"/>
          </a:p>
          <a:p>
            <a:pPr>
              <a:defRPr sz="2000">
                <a:latin typeface="Proxima Nova"/>
                <a:ea typeface="Proxima Nova"/>
                <a:cs typeface="Proxima Nova"/>
                <a:sym typeface="Proxima Nova"/>
              </a:defRPr>
            </a:pPr>
            <a:endParaRPr sz="1400"/>
          </a:p>
          <a:p>
            <a:pPr>
              <a:defRPr sz="16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The term refers to the </a:t>
            </a:r>
            <a:r>
              <a:rPr b="1"/>
              <a:t>protection of data, privacy, and integrity </a:t>
            </a:r>
            <a:r>
              <a:t>by preventing unauthorized access, ensuring compliance, and mitigating misuse.</a:t>
            </a:r>
          </a:p>
        </p:txBody>
      </p:sp>
      <p:sp>
        <p:nvSpPr>
          <p:cNvPr id="414" name="Google Shape;298;p35"/>
          <p:cNvSpPr txBox="1"/>
          <p:nvPr/>
        </p:nvSpPr>
        <p:spPr>
          <a:xfrm>
            <a:off x="9481463" y="1905066"/>
            <a:ext cx="2014801" cy="3474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32" tIns="60932" rIns="60932" bIns="60932">
            <a:spAutoFit/>
          </a:bodyPr>
          <a:lstStyle/>
          <a:p>
            <a:pPr>
              <a:defRPr sz="2600" b="1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I</a:t>
            </a:r>
            <a:r>
              <a:rPr b="0"/>
              <a:t>nformative</a:t>
            </a:r>
            <a:endParaRPr sz="1400"/>
          </a:p>
          <a:p>
            <a:pPr>
              <a:defRPr sz="2000">
                <a:latin typeface="Proxima Nova"/>
                <a:ea typeface="Proxima Nova"/>
                <a:cs typeface="Proxima Nova"/>
                <a:sym typeface="Proxima Nova"/>
              </a:defRPr>
            </a:pPr>
            <a:endParaRPr sz="1400"/>
          </a:p>
          <a:p>
            <a:pPr>
              <a:defRPr sz="1600"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The term refers to the ability of a tool to provide clear, relevant, and comprehensive </a:t>
            </a:r>
            <a:r>
              <a:rPr b="1"/>
              <a:t>insights that enhance users’</a:t>
            </a:r>
            <a:r>
              <a:t> understanding and </a:t>
            </a:r>
            <a:r>
              <a:rPr b="1"/>
              <a:t>support informed decision-making</a:t>
            </a:r>
          </a:p>
        </p:txBody>
      </p:sp>
      <p:sp>
        <p:nvSpPr>
          <p:cNvPr id="415" name="Google Shape;299;p35"/>
          <p:cNvSpPr txBox="1"/>
          <p:nvPr/>
        </p:nvSpPr>
        <p:spPr>
          <a:xfrm>
            <a:off x="415600" y="5604367"/>
            <a:ext cx="11776400" cy="124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spAutoFit/>
          </a:bodyPr>
          <a:lstStyle/>
          <a:p>
            <a:pPr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In pratica, abbiamo costruito una </a:t>
            </a:r>
            <a:r>
              <a:rPr b="1"/>
              <a:t>web-app: </a:t>
            </a:r>
          </a:p>
          <a:p>
            <a:pPr>
              <a:defRPr sz="2100" u="sng">
                <a:solidFill>
                  <a:srgbClr val="0563C1"/>
                </a:solidFill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rPr>
                <a:uFill>
                  <a:solidFill>
                    <a:srgbClr val="0563C1"/>
                  </a:solidFill>
                </a:uFill>
                <a:hlinkClick r:id="rId2"/>
              </a:rPr>
              <a:t>https://sosta-apps.shinyapps.io/prevalence-curves/</a:t>
            </a:r>
            <a:endParaRPr>
              <a:solidFill>
                <a:schemeClr val="accent3"/>
              </a:solidFill>
            </a:endParaRPr>
          </a:p>
          <a:p>
            <a:pPr>
              <a:defRPr sz="24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 </a:t>
            </a:r>
          </a:p>
        </p:txBody>
      </p:sp>
      <p:pic>
        <p:nvPicPr>
          <p:cNvPr id="416" name="Google Shape;300;p35" descr="Google Shape;300;p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902" y="5118734"/>
            <a:ext cx="1739901" cy="1725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305;p36"/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/>
          <a:lstStyle>
            <a:lvl1pPr defTabSz="859536">
              <a:defRPr sz="3666"/>
            </a:lvl1pPr>
          </a:lstStyle>
          <a:p>
            <a:r>
              <a:t>Alcuni fenomeni a livello Nazionale mostrati dalla web-app</a:t>
            </a:r>
          </a:p>
        </p:txBody>
      </p:sp>
      <p:sp>
        <p:nvSpPr>
          <p:cNvPr id="419" name="Google Shape;306;p36"/>
          <p:cNvSpPr txBox="1">
            <a:spLocks noGrp="1"/>
          </p:cNvSpPr>
          <p:nvPr>
            <p:ph type="body" sz="quarter" idx="1"/>
          </p:nvPr>
        </p:nvSpPr>
        <p:spPr>
          <a:xfrm>
            <a:off x="415599" y="1536632"/>
            <a:ext cx="2696802" cy="4555202"/>
          </a:xfrm>
          <a:prstGeom prst="rect">
            <a:avLst/>
          </a:prstGeom>
        </p:spPr>
        <p:txBody>
          <a:bodyPr lIns="121899" tIns="121899" rIns="121899" bIns="121899"/>
          <a:lstStyle>
            <a:lvl1pPr marL="0" indent="0">
              <a:spcBef>
                <a:spcPts val="1600"/>
              </a:spcBef>
              <a:buSzTx/>
              <a:buNone/>
            </a:lvl1pPr>
          </a:lstStyle>
          <a:p>
            <a:r>
              <a:t>Tobacco consumption effect</a:t>
            </a:r>
          </a:p>
        </p:txBody>
      </p:sp>
      <p:sp>
        <p:nvSpPr>
          <p:cNvPr id="420" name="Google Shape;307;p36"/>
          <p:cNvSpPr txBox="1">
            <a:spLocks noGrp="1"/>
          </p:cNvSpPr>
          <p:nvPr>
            <p:ph type="sldNum" sz="quarter" idx="4294967295"/>
          </p:nvPr>
        </p:nvSpPr>
        <p:spPr>
          <a:xfrm>
            <a:off x="11617227" y="6279690"/>
            <a:ext cx="410985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pic>
        <p:nvPicPr>
          <p:cNvPr id="421" name="Google Shape;308;p36" descr="Google Shape;308;p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133" y="1464566"/>
            <a:ext cx="9029435" cy="50877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Google Shape;309;p36" descr="Google Shape;309;p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5132701"/>
            <a:ext cx="1739901" cy="1725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314;p37"/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/>
          <a:lstStyle>
            <a:lvl1pPr defTabSz="448055">
              <a:defRPr sz="1911"/>
            </a:lvl1pPr>
          </a:lstStyle>
          <a:p>
            <a:r>
              <a:t>Alcuni fenomeni a livello Nazionale mostrati dalla web-app</a:t>
            </a:r>
          </a:p>
        </p:txBody>
      </p:sp>
      <p:sp>
        <p:nvSpPr>
          <p:cNvPr id="425" name="Google Shape;315;p37"/>
          <p:cNvSpPr txBox="1">
            <a:spLocks noGrp="1"/>
          </p:cNvSpPr>
          <p:nvPr>
            <p:ph type="body" sz="half" idx="1"/>
          </p:nvPr>
        </p:nvSpPr>
        <p:spPr>
          <a:xfrm>
            <a:off x="468766" y="1255366"/>
            <a:ext cx="7933202" cy="3837601"/>
          </a:xfrm>
          <a:prstGeom prst="rect">
            <a:avLst/>
          </a:prstGeom>
        </p:spPr>
        <p:txBody>
          <a:bodyPr lIns="121899" tIns="121899" rIns="121899" bIns="121899"/>
          <a:lstStyle>
            <a:lvl1pPr marL="0" indent="0">
              <a:buSzTx/>
              <a:buNone/>
            </a:lvl1pPr>
          </a:lstStyle>
          <a:p>
            <a:r>
              <a:t>Morbidity compression for cardiovascular diseases</a:t>
            </a:r>
          </a:p>
        </p:txBody>
      </p:sp>
      <p:sp>
        <p:nvSpPr>
          <p:cNvPr id="426" name="Google Shape;316;p37"/>
          <p:cNvSpPr txBox="1">
            <a:spLocks noGrp="1"/>
          </p:cNvSpPr>
          <p:nvPr>
            <p:ph type="sldNum" sz="quarter" idx="4294967295"/>
          </p:nvPr>
        </p:nvSpPr>
        <p:spPr>
          <a:xfrm>
            <a:off x="11617227" y="6279690"/>
            <a:ext cx="410985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pic>
        <p:nvPicPr>
          <p:cNvPr id="427" name="Google Shape;317;p37" descr="Google Shape;317;p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67" y="1939900"/>
            <a:ext cx="9674901" cy="4623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8" name="Google Shape;318;p37" descr="Google Shape;318;p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5132701"/>
            <a:ext cx="1739901" cy="1725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323;p38"/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/>
          <a:lstStyle>
            <a:lvl1pPr defTabSz="448055">
              <a:defRPr sz="1911"/>
            </a:lvl1pPr>
          </a:lstStyle>
          <a:p>
            <a:r>
              <a:t>Alcuni fenomeni a livello Locale mostrati dalla web-app</a:t>
            </a:r>
          </a:p>
        </p:txBody>
      </p:sp>
      <p:sp>
        <p:nvSpPr>
          <p:cNvPr id="431" name="Google Shape;324;p38"/>
          <p:cNvSpPr txBox="1">
            <a:spLocks noGrp="1"/>
          </p:cNvSpPr>
          <p:nvPr>
            <p:ph type="body" sz="half" idx="1"/>
          </p:nvPr>
        </p:nvSpPr>
        <p:spPr>
          <a:xfrm>
            <a:off x="468766" y="1255366"/>
            <a:ext cx="7933202" cy="3837601"/>
          </a:xfrm>
          <a:prstGeom prst="rect">
            <a:avLst/>
          </a:prstGeom>
        </p:spPr>
        <p:txBody>
          <a:bodyPr lIns="121899" tIns="121899" rIns="121899" bIns="121899"/>
          <a:lstStyle>
            <a:lvl1pPr marL="0" indent="0">
              <a:buSzTx/>
              <a:buNone/>
            </a:lvl1pPr>
          </a:lstStyle>
          <a:p>
            <a:r>
              <a:t>North-South inequalities in diabetes are diverging</a:t>
            </a:r>
          </a:p>
        </p:txBody>
      </p:sp>
      <p:sp>
        <p:nvSpPr>
          <p:cNvPr id="432" name="Google Shape;325;p38"/>
          <p:cNvSpPr txBox="1">
            <a:spLocks noGrp="1"/>
          </p:cNvSpPr>
          <p:nvPr>
            <p:ph type="sldNum" sz="quarter" idx="4294967295"/>
          </p:nvPr>
        </p:nvSpPr>
        <p:spPr>
          <a:xfrm>
            <a:off x="11617227" y="6279690"/>
            <a:ext cx="410985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26</a:t>
            </a:fld>
            <a:endParaRPr/>
          </a:p>
        </p:txBody>
      </p:sp>
      <p:pic>
        <p:nvPicPr>
          <p:cNvPr id="433" name="Google Shape;326;p38" descr="Google Shape;326;p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501" y="1850967"/>
            <a:ext cx="8831100" cy="472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Google Shape;327;p38" descr="Google Shape;327;p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5132701"/>
            <a:ext cx="1739901" cy="1725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332;p39"/>
          <p:cNvSpPr txBox="1">
            <a:spLocks noGrp="1"/>
          </p:cNvSpPr>
          <p:nvPr>
            <p:ph type="title"/>
          </p:nvPr>
        </p:nvSpPr>
        <p:spPr>
          <a:xfrm>
            <a:off x="415599" y="593366"/>
            <a:ext cx="11360802" cy="763601"/>
          </a:xfrm>
          <a:prstGeom prst="rect">
            <a:avLst/>
          </a:prstGeom>
        </p:spPr>
        <p:txBody>
          <a:bodyPr lIns="121899" tIns="121899" rIns="121899" bIns="121899"/>
          <a:lstStyle>
            <a:lvl1pPr defTabSz="448055">
              <a:defRPr sz="1911"/>
            </a:lvl1pPr>
          </a:lstStyle>
          <a:p>
            <a:r>
              <a:rPr dirty="0" err="1"/>
              <a:t>Alcuni</a:t>
            </a:r>
            <a:r>
              <a:rPr dirty="0"/>
              <a:t> </a:t>
            </a:r>
            <a:r>
              <a:rPr dirty="0" err="1"/>
              <a:t>fenomeni</a:t>
            </a:r>
            <a:r>
              <a:rPr dirty="0"/>
              <a:t> a </a:t>
            </a:r>
            <a:r>
              <a:rPr dirty="0" err="1"/>
              <a:t>livello</a:t>
            </a:r>
            <a:r>
              <a:rPr dirty="0"/>
              <a:t> Locale </a:t>
            </a:r>
            <a:r>
              <a:rPr dirty="0" err="1"/>
              <a:t>mostrati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web-app</a:t>
            </a:r>
          </a:p>
        </p:txBody>
      </p:sp>
      <p:sp>
        <p:nvSpPr>
          <p:cNvPr id="437" name="Google Shape;333;p39"/>
          <p:cNvSpPr txBox="1">
            <a:spLocks noGrp="1"/>
          </p:cNvSpPr>
          <p:nvPr>
            <p:ph type="body" sz="half" idx="1"/>
          </p:nvPr>
        </p:nvSpPr>
        <p:spPr>
          <a:xfrm>
            <a:off x="468766" y="1255366"/>
            <a:ext cx="7933202" cy="3837601"/>
          </a:xfrm>
          <a:prstGeom prst="rect">
            <a:avLst/>
          </a:prstGeom>
        </p:spPr>
        <p:txBody>
          <a:bodyPr lIns="121899" tIns="121899" rIns="121899" bIns="121899"/>
          <a:lstStyle>
            <a:lvl1pPr marL="0" indent="0">
              <a:buSzTx/>
              <a:buNone/>
            </a:lvl1pPr>
          </a:lstStyle>
          <a:p>
            <a:r>
              <a:rPr dirty="0"/>
              <a:t>Asbestos effect on tumors in Alessandria’s ASL</a:t>
            </a:r>
          </a:p>
        </p:txBody>
      </p:sp>
      <p:sp>
        <p:nvSpPr>
          <p:cNvPr id="438" name="Google Shape;334;p39"/>
          <p:cNvSpPr txBox="1">
            <a:spLocks noGrp="1"/>
          </p:cNvSpPr>
          <p:nvPr>
            <p:ph type="sldNum" sz="quarter" idx="4294967295"/>
          </p:nvPr>
        </p:nvSpPr>
        <p:spPr>
          <a:xfrm>
            <a:off x="11617227" y="6279690"/>
            <a:ext cx="410985" cy="400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normAutofit fontScale="92500" lnSpcReduction="10000"/>
          </a:bodyPr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pic>
        <p:nvPicPr>
          <p:cNvPr id="439" name="Google Shape;335;p39" descr="Google Shape;335;p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333" y="1902503"/>
            <a:ext cx="8986734" cy="4772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0" name="Google Shape;336;p39" descr="Google Shape;336;p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5132701"/>
            <a:ext cx="1739901" cy="1725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608" y="171936"/>
            <a:ext cx="1292733" cy="690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" name="Immagine 8" descr="Immagine 8"/>
          <p:cNvPicPr>
            <a:picLocks noChangeAspect="1"/>
          </p:cNvPicPr>
          <p:nvPr/>
        </p:nvPicPr>
        <p:blipFill>
          <a:blip r:embed="rId3"/>
          <a:srcRect l="76889" t="24798" r="4979" b="17263"/>
          <a:stretch>
            <a:fillRect/>
          </a:stretch>
        </p:blipFill>
        <p:spPr>
          <a:xfrm>
            <a:off x="7301399" y="146539"/>
            <a:ext cx="1652946" cy="659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" name="Immagine 9" descr="Immagine 9"/>
          <p:cNvPicPr>
            <a:picLocks noChangeAspect="1"/>
          </p:cNvPicPr>
          <p:nvPr/>
        </p:nvPicPr>
        <p:blipFill>
          <a:blip r:embed="rId3"/>
          <a:srcRect l="3912" t="24798" r="74124" b="17263"/>
          <a:stretch>
            <a:fillRect/>
          </a:stretch>
        </p:blipFill>
        <p:spPr>
          <a:xfrm>
            <a:off x="1165081" y="150174"/>
            <a:ext cx="2002315" cy="659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" name="Immagine 10" descr="Immagine 10"/>
          <p:cNvPicPr>
            <a:picLocks noChangeAspect="1"/>
          </p:cNvPicPr>
          <p:nvPr/>
        </p:nvPicPr>
        <p:blipFill>
          <a:blip r:embed="rId3"/>
          <a:srcRect l="30180" t="24797" r="50906" b="26062"/>
          <a:stretch>
            <a:fillRect/>
          </a:stretch>
        </p:blipFill>
        <p:spPr>
          <a:xfrm>
            <a:off x="3315406" y="210332"/>
            <a:ext cx="1724322" cy="55953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9" name="Immagine 13" descr="Immagine 13"/>
          <p:cNvPicPr>
            <a:picLocks noChangeAspect="1"/>
          </p:cNvPicPr>
          <p:nvPr/>
        </p:nvPicPr>
        <p:blipFill>
          <a:blip r:embed="rId3"/>
          <a:srcRect l="52226" t="24798" r="28036" b="21003"/>
          <a:stretch>
            <a:fillRect/>
          </a:stretch>
        </p:blipFill>
        <p:spPr>
          <a:xfrm>
            <a:off x="5215291" y="168957"/>
            <a:ext cx="1799454" cy="617145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Connettore diritto 14"/>
          <p:cNvSpPr/>
          <p:nvPr/>
        </p:nvSpPr>
        <p:spPr>
          <a:xfrm>
            <a:off x="3188081" y="210062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1" name="Rettangolo 18"/>
          <p:cNvSpPr/>
          <p:nvPr/>
        </p:nvSpPr>
        <p:spPr>
          <a:xfrm>
            <a:off x="0" y="3728540"/>
            <a:ext cx="12259462" cy="3414631"/>
          </a:xfrm>
          <a:prstGeom prst="rect">
            <a:avLst/>
          </a:prstGeom>
          <a:gradFill>
            <a:gsLst>
              <a:gs pos="0">
                <a:srgbClr val="F5D3EF"/>
              </a:gs>
              <a:gs pos="100000">
                <a:srgbClr val="FFFFFF"/>
              </a:gs>
            </a:gsLst>
            <a:lin ang="16200000"/>
          </a:gradFill>
          <a:ln w="3175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2" name="Connettore diritto 15"/>
          <p:cNvSpPr/>
          <p:nvPr/>
        </p:nvSpPr>
        <p:spPr>
          <a:xfrm>
            <a:off x="5125543" y="210062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3" name="Connettore diritto 16"/>
          <p:cNvSpPr/>
          <p:nvPr/>
        </p:nvSpPr>
        <p:spPr>
          <a:xfrm>
            <a:off x="7068125" y="199824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4" name="Connettore diritto 17"/>
          <p:cNvSpPr/>
          <p:nvPr/>
        </p:nvSpPr>
        <p:spPr>
          <a:xfrm>
            <a:off x="9011879" y="199824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5" name="Sottotitolo 2"/>
          <p:cNvSpPr txBox="1"/>
          <p:nvPr/>
        </p:nvSpPr>
        <p:spPr>
          <a:xfrm>
            <a:off x="380683" y="1520825"/>
            <a:ext cx="11430635" cy="2663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spcBef>
                <a:spcPts val="1000"/>
              </a:spcBef>
              <a:defRPr sz="3200">
                <a:solidFill>
                  <a:srgbClr val="0036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From Compression to Expansion? </a:t>
            </a:r>
            <a:endParaRPr lang="it-IT" dirty="0"/>
          </a:p>
          <a:p>
            <a:r>
              <a:rPr sz="2400" dirty="0"/>
              <a:t>Policy Recommendations from Health Surveillance Trends in Cardiovascular and Diabetes Morbidity in the US</a:t>
            </a:r>
          </a:p>
        </p:txBody>
      </p:sp>
      <p:pic>
        <p:nvPicPr>
          <p:cNvPr id="4" name="Picture 1" descr="e0_ITA_USA.pdf">
            <a:extLst>
              <a:ext uri="{FF2B5EF4-FFF2-40B4-BE49-F238E27FC236}">
                <a16:creationId xmlns:a16="http://schemas.microsoft.com/office/drawing/2014/main" id="{182E4F26-21B0-8F29-A3F3-D04C7F8C74D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786422" y="3561170"/>
            <a:ext cx="6450914" cy="3317306"/>
          </a:xfrm>
          <a:prstGeom prst="rect">
            <a:avLst/>
          </a:prstGeom>
          <a:ln w="9360">
            <a:noFill/>
          </a:ln>
        </p:spPr>
      </p:pic>
      <p:sp>
        <p:nvSpPr>
          <p:cNvPr id="5" name="CustomShape 2">
            <a:extLst>
              <a:ext uri="{FF2B5EF4-FFF2-40B4-BE49-F238E27FC236}">
                <a16:creationId xmlns:a16="http://schemas.microsoft.com/office/drawing/2014/main" id="{E850C9AA-4699-CDBD-A93B-8F738FF9A006}"/>
              </a:ext>
            </a:extLst>
          </p:cNvPr>
          <p:cNvSpPr/>
          <p:nvPr/>
        </p:nvSpPr>
        <p:spPr>
          <a:xfrm>
            <a:off x="1433209" y="6003090"/>
            <a:ext cx="4353213" cy="704735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Aspettativa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di vita in Italia 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Stati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Uniti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Source: Human Mortality Database</a:t>
            </a:r>
            <a:endParaRPr lang="en-US" sz="1600" b="0" i="1" strike="noStrike" spc="-1" dirty="0">
              <a:latin typeface="Arial"/>
            </a:endParaRPr>
          </a:p>
        </p:txBody>
      </p:sp>
      <p:pic>
        <p:nvPicPr>
          <p:cNvPr id="2" name="Immagine 1" descr="Alberto Arletti - PhD Student - Statistical Science | LinkedIn">
            <a:extLst>
              <a:ext uri="{FF2B5EF4-FFF2-40B4-BE49-F238E27FC236}">
                <a16:creationId xmlns:a16="http://schemas.microsoft.com/office/drawing/2014/main" id="{B367EA1C-E5BA-272A-A10A-6C47910F7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09" y="3787971"/>
            <a:ext cx="1905000" cy="19050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673A7F0-FE01-263A-CDDB-5E5A84ED2D4F}"/>
              </a:ext>
            </a:extLst>
          </p:cNvPr>
          <p:cNvSpPr txBox="1"/>
          <p:nvPr/>
        </p:nvSpPr>
        <p:spPr>
          <a:xfrm>
            <a:off x="2622885" y="4246313"/>
            <a:ext cx="4529889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Arletti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Schiavon, L.,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Stival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Marzulli, M., Bertarelli, G., &amp; Campostrini, S. (2026). Temporal trends in cardiovascular disease and diabetes prevalence in the United States: assessing compression versus expansion.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Scientific Reports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3200" dirty="0"/>
          </a:p>
        </p:txBody>
      </p:sp>
      <p:pic>
        <p:nvPicPr>
          <p:cNvPr id="3" name="Immagine 2" descr="Come è cambiata la speranza di vita dopo il Covid. L'impatto ...">
            <a:extLst>
              <a:ext uri="{FF2B5EF4-FFF2-40B4-BE49-F238E27FC236}">
                <a16:creationId xmlns:a16="http://schemas.microsoft.com/office/drawing/2014/main" id="{F76FC7E2-69EA-FC71-3DA5-618631B055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3505" y="3646847"/>
            <a:ext cx="574795" cy="537803"/>
          </a:xfrm>
          <a:prstGeom prst="rect">
            <a:avLst/>
          </a:prstGeom>
        </p:spPr>
      </p:pic>
      <p:pic>
        <p:nvPicPr>
          <p:cNvPr id="7" name="Immagine 6" descr="Daniele Durante - Associate Professor presso Università ...">
            <a:extLst>
              <a:ext uri="{FF2B5EF4-FFF2-40B4-BE49-F238E27FC236}">
                <a16:creationId xmlns:a16="http://schemas.microsoft.com/office/drawing/2014/main" id="{3115A6FB-7942-7359-3ABE-E02644B6FF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0357" y="3646847"/>
            <a:ext cx="577251" cy="5426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608" y="171936"/>
            <a:ext cx="1292733" cy="690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Immagine 8" descr="Immagine 8"/>
          <p:cNvPicPr>
            <a:picLocks noChangeAspect="1"/>
          </p:cNvPicPr>
          <p:nvPr/>
        </p:nvPicPr>
        <p:blipFill>
          <a:blip r:embed="rId3"/>
          <a:srcRect l="76889" t="24798" r="4979" b="17263"/>
          <a:stretch>
            <a:fillRect/>
          </a:stretch>
        </p:blipFill>
        <p:spPr>
          <a:xfrm>
            <a:off x="7301399" y="146539"/>
            <a:ext cx="1652946" cy="659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Immagine 9" descr="Immagine 9"/>
          <p:cNvPicPr>
            <a:picLocks noChangeAspect="1"/>
          </p:cNvPicPr>
          <p:nvPr/>
        </p:nvPicPr>
        <p:blipFill>
          <a:blip r:embed="rId3"/>
          <a:srcRect l="3912" t="24798" r="74124" b="17263"/>
          <a:stretch>
            <a:fillRect/>
          </a:stretch>
        </p:blipFill>
        <p:spPr>
          <a:xfrm>
            <a:off x="1165081" y="150174"/>
            <a:ext cx="2002315" cy="659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Immagine 10" descr="Immagine 10"/>
          <p:cNvPicPr>
            <a:picLocks noChangeAspect="1"/>
          </p:cNvPicPr>
          <p:nvPr/>
        </p:nvPicPr>
        <p:blipFill>
          <a:blip r:embed="rId3"/>
          <a:srcRect l="30180" t="24797" r="50906" b="26062"/>
          <a:stretch>
            <a:fillRect/>
          </a:stretch>
        </p:blipFill>
        <p:spPr>
          <a:xfrm>
            <a:off x="3315406" y="210332"/>
            <a:ext cx="1724322" cy="559536"/>
          </a:xfrm>
          <a:prstGeom prst="rect">
            <a:avLst/>
          </a:prstGeom>
          <a:ln w="12700">
            <a:miter lim="400000"/>
          </a:ln>
        </p:spPr>
      </p:pic>
      <p:pic>
        <p:nvPicPr>
          <p:cNvPr id="473" name="Immagine 13" descr="Immagine 13"/>
          <p:cNvPicPr>
            <a:picLocks noChangeAspect="1"/>
          </p:cNvPicPr>
          <p:nvPr/>
        </p:nvPicPr>
        <p:blipFill>
          <a:blip r:embed="rId3"/>
          <a:srcRect l="52226" t="24798" r="28036" b="21003"/>
          <a:stretch>
            <a:fillRect/>
          </a:stretch>
        </p:blipFill>
        <p:spPr>
          <a:xfrm>
            <a:off x="5215291" y="168957"/>
            <a:ext cx="1799454" cy="617145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Connettore diritto 14"/>
          <p:cNvSpPr/>
          <p:nvPr/>
        </p:nvSpPr>
        <p:spPr>
          <a:xfrm>
            <a:off x="3188081" y="210062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5" name="Rettangolo 18"/>
          <p:cNvSpPr/>
          <p:nvPr/>
        </p:nvSpPr>
        <p:spPr>
          <a:xfrm>
            <a:off x="-33730" y="6200775"/>
            <a:ext cx="12259462" cy="677701"/>
          </a:xfrm>
          <a:prstGeom prst="rect">
            <a:avLst/>
          </a:prstGeom>
          <a:gradFill>
            <a:gsLst>
              <a:gs pos="0">
                <a:srgbClr val="F5D3EF"/>
              </a:gs>
              <a:gs pos="100000">
                <a:srgbClr val="FFFFFF"/>
              </a:gs>
            </a:gsLst>
            <a:lin ang="16200000"/>
          </a:gradFill>
          <a:ln w="3175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6" name="Connettore diritto 15"/>
          <p:cNvSpPr/>
          <p:nvPr/>
        </p:nvSpPr>
        <p:spPr>
          <a:xfrm>
            <a:off x="5125543" y="210062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7" name="Connettore diritto 16"/>
          <p:cNvSpPr/>
          <p:nvPr/>
        </p:nvSpPr>
        <p:spPr>
          <a:xfrm>
            <a:off x="7068125" y="199824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8" name="Connettore diritto 17"/>
          <p:cNvSpPr/>
          <p:nvPr/>
        </p:nvSpPr>
        <p:spPr>
          <a:xfrm>
            <a:off x="9011879" y="199824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9" name="age_cohort_bands.pdf" descr="age_cohort_bands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94" y="2139795"/>
            <a:ext cx="5640774" cy="31729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" name="age_cohort_bands.pdf" descr="age_cohort_bands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623" y="2027930"/>
            <a:ext cx="6038514" cy="3396665"/>
          </a:xfrm>
          <a:prstGeom prst="rect">
            <a:avLst/>
          </a:prstGeom>
          <a:ln w="12700">
            <a:miter lim="400000"/>
          </a:ln>
        </p:spPr>
      </p:pic>
      <p:sp>
        <p:nvSpPr>
          <p:cNvPr id="481" name="Sottotitolo 2"/>
          <p:cNvSpPr txBox="1"/>
          <p:nvPr/>
        </p:nvSpPr>
        <p:spPr>
          <a:xfrm>
            <a:off x="426097" y="5720099"/>
            <a:ext cx="11377821" cy="617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 lnSpcReduction="10000"/>
          </a:bodyPr>
          <a:lstStyle/>
          <a:p>
            <a:pPr algn="ctr" defTabSz="521208">
              <a:lnSpc>
                <a:spcPct val="90000"/>
              </a:lnSpc>
              <a:spcBef>
                <a:spcPts val="500"/>
              </a:spcBef>
              <a:defRPr sz="1368">
                <a:solidFill>
                  <a:srgbClr val="0041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Adjusting on: region, smoking, income, gender, ethnicity, education, income, BMI.</a:t>
            </a:r>
            <a:br/>
            <a:r>
              <a:t>Shaded areas show 95% confidence intervals based on the logistic model. Reference individual: living in south, smoker, female, born in 1952, white, education: some college, income: poor, BMI of 28.</a:t>
            </a:r>
          </a:p>
        </p:txBody>
      </p:sp>
      <p:sp>
        <p:nvSpPr>
          <p:cNvPr id="482" name="Sottotitolo 2"/>
          <p:cNvSpPr txBox="1">
            <a:spLocks noGrp="1"/>
          </p:cNvSpPr>
          <p:nvPr>
            <p:ph type="subTitle" sz="quarter" idx="1"/>
          </p:nvPr>
        </p:nvSpPr>
        <p:spPr>
          <a:xfrm>
            <a:off x="334962" y="940264"/>
            <a:ext cx="11522076" cy="792163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solidFill>
                  <a:srgbClr val="0041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Probability of diabetes and cardiovascular diseases (CVDs) in the US aging population depending on </a:t>
            </a:r>
            <a:r>
              <a:rPr b="1"/>
              <a:t>cohort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608" y="171936"/>
            <a:ext cx="1292733" cy="690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5" name="Immagine 8" descr="Immagine 8"/>
          <p:cNvPicPr>
            <a:picLocks noChangeAspect="1"/>
          </p:cNvPicPr>
          <p:nvPr/>
        </p:nvPicPr>
        <p:blipFill>
          <a:blip r:embed="rId3"/>
          <a:srcRect l="76889" t="24798" r="4979" b="17263"/>
          <a:stretch>
            <a:fillRect/>
          </a:stretch>
        </p:blipFill>
        <p:spPr>
          <a:xfrm>
            <a:off x="7301399" y="146539"/>
            <a:ext cx="1652946" cy="659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" name="Immagine 9" descr="Immagine 9"/>
          <p:cNvPicPr>
            <a:picLocks noChangeAspect="1"/>
          </p:cNvPicPr>
          <p:nvPr/>
        </p:nvPicPr>
        <p:blipFill>
          <a:blip r:embed="rId3"/>
          <a:srcRect l="3912" t="24798" r="74124" b="17263"/>
          <a:stretch>
            <a:fillRect/>
          </a:stretch>
        </p:blipFill>
        <p:spPr>
          <a:xfrm>
            <a:off x="1165081" y="150174"/>
            <a:ext cx="2002315" cy="659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" name="Immagine 10" descr="Immagine 10"/>
          <p:cNvPicPr>
            <a:picLocks noChangeAspect="1"/>
          </p:cNvPicPr>
          <p:nvPr/>
        </p:nvPicPr>
        <p:blipFill>
          <a:blip r:embed="rId3"/>
          <a:srcRect l="30180" t="24797" r="50906" b="26062"/>
          <a:stretch>
            <a:fillRect/>
          </a:stretch>
        </p:blipFill>
        <p:spPr>
          <a:xfrm>
            <a:off x="3315406" y="210332"/>
            <a:ext cx="1724322" cy="55953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" name="Immagine 13" descr="Immagine 13"/>
          <p:cNvPicPr>
            <a:picLocks noChangeAspect="1"/>
          </p:cNvPicPr>
          <p:nvPr/>
        </p:nvPicPr>
        <p:blipFill>
          <a:blip r:embed="rId3"/>
          <a:srcRect l="52226" t="24798" r="28036" b="21003"/>
          <a:stretch>
            <a:fillRect/>
          </a:stretch>
        </p:blipFill>
        <p:spPr>
          <a:xfrm>
            <a:off x="5215291" y="168957"/>
            <a:ext cx="1799454" cy="617145"/>
          </a:xfrm>
          <a:prstGeom prst="rect">
            <a:avLst/>
          </a:prstGeom>
          <a:ln w="12700">
            <a:miter lim="400000"/>
          </a:ln>
        </p:spPr>
      </p:pic>
      <p:sp>
        <p:nvSpPr>
          <p:cNvPr id="489" name="Connettore diritto 14"/>
          <p:cNvSpPr/>
          <p:nvPr/>
        </p:nvSpPr>
        <p:spPr>
          <a:xfrm>
            <a:off x="3188081" y="210062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0" name="Rettangolo 18"/>
          <p:cNvSpPr/>
          <p:nvPr/>
        </p:nvSpPr>
        <p:spPr>
          <a:xfrm>
            <a:off x="-33730" y="6200775"/>
            <a:ext cx="12259462" cy="677701"/>
          </a:xfrm>
          <a:prstGeom prst="rect">
            <a:avLst/>
          </a:prstGeom>
          <a:gradFill>
            <a:gsLst>
              <a:gs pos="0">
                <a:srgbClr val="F5D3EF"/>
              </a:gs>
              <a:gs pos="100000">
                <a:srgbClr val="FFFFFF"/>
              </a:gs>
            </a:gsLst>
            <a:lin ang="16200000"/>
          </a:gradFill>
          <a:ln w="3175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1" name="Connettore diritto 15"/>
          <p:cNvSpPr/>
          <p:nvPr/>
        </p:nvSpPr>
        <p:spPr>
          <a:xfrm>
            <a:off x="5125543" y="210062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2" name="Connettore diritto 16"/>
          <p:cNvSpPr/>
          <p:nvPr/>
        </p:nvSpPr>
        <p:spPr>
          <a:xfrm>
            <a:off x="7068125" y="199824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3" name="Connettore diritto 17"/>
          <p:cNvSpPr/>
          <p:nvPr/>
        </p:nvSpPr>
        <p:spPr>
          <a:xfrm>
            <a:off x="9011879" y="199824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4" name="Sottotitolo 2"/>
          <p:cNvSpPr txBox="1">
            <a:spLocks noGrp="1"/>
          </p:cNvSpPr>
          <p:nvPr>
            <p:ph type="subTitle" sz="quarter" idx="1"/>
          </p:nvPr>
        </p:nvSpPr>
        <p:spPr>
          <a:xfrm>
            <a:off x="334962" y="940264"/>
            <a:ext cx="11522076" cy="792163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solidFill>
                  <a:srgbClr val="0041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Probability of diabetes and cardiovascular diseases in the US aging population depending on </a:t>
            </a:r>
            <a:r>
              <a:rPr b="1"/>
              <a:t>income</a:t>
            </a:r>
          </a:p>
        </p:txBody>
      </p:sp>
      <p:pic>
        <p:nvPicPr>
          <p:cNvPr id="495" name="age_income.pdf" descr="age_income.pdf"/>
          <p:cNvPicPr>
            <a:picLocks noChangeAspect="1"/>
          </p:cNvPicPr>
          <p:nvPr/>
        </p:nvPicPr>
        <p:blipFill>
          <a:blip r:embed="rId4"/>
          <a:srcRect l="2897" r="13770"/>
          <a:stretch>
            <a:fillRect/>
          </a:stretch>
        </p:blipFill>
        <p:spPr>
          <a:xfrm>
            <a:off x="610592" y="1575891"/>
            <a:ext cx="9414905" cy="5084131"/>
          </a:xfrm>
          <a:prstGeom prst="rect">
            <a:avLst/>
          </a:prstGeom>
          <a:ln w="12700">
            <a:miter lim="400000"/>
          </a:ln>
        </p:spPr>
      </p:pic>
      <p:sp>
        <p:nvSpPr>
          <p:cNvPr id="496" name="Sottotitolo 2"/>
          <p:cNvSpPr txBox="1"/>
          <p:nvPr/>
        </p:nvSpPr>
        <p:spPr>
          <a:xfrm rot="16200000">
            <a:off x="-1033600" y="3570519"/>
            <a:ext cx="2907409" cy="792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Probability of condition </a:t>
            </a:r>
          </a:p>
        </p:txBody>
      </p:sp>
      <p:sp>
        <p:nvSpPr>
          <p:cNvPr id="497" name="Sottotitolo 2"/>
          <p:cNvSpPr txBox="1"/>
          <p:nvPr/>
        </p:nvSpPr>
        <p:spPr>
          <a:xfrm>
            <a:off x="10039704" y="3602589"/>
            <a:ext cx="2002235" cy="2833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 lnSpcReduction="10000"/>
          </a:bodyPr>
          <a:lstStyle/>
          <a:p>
            <a:pPr defTabSz="576072">
              <a:lnSpc>
                <a:spcPct val="90000"/>
              </a:lnSpc>
              <a:spcBef>
                <a:spcPts val="600"/>
              </a:spcBef>
              <a:defRPr sz="1512">
                <a:solidFill>
                  <a:srgbClr val="0041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Adjusting on: cohort, region, smoking, BMI, gender, ethnicity, education.</a:t>
            </a:r>
            <a:br/>
            <a:r>
              <a:t>Shaded areas show 95% confidence intervals based on the logistic model. Reference individual: living in south, smoker, female, born in 1952, white, education: some college, BMI of 28.</a:t>
            </a:r>
          </a:p>
        </p:txBody>
      </p:sp>
      <p:pic>
        <p:nvPicPr>
          <p:cNvPr id="498" name="age_income.pdf" descr="age_income.pdf"/>
          <p:cNvPicPr>
            <a:picLocks noChangeAspect="1"/>
          </p:cNvPicPr>
          <p:nvPr/>
        </p:nvPicPr>
        <p:blipFill>
          <a:blip r:embed="rId4"/>
          <a:srcRect l="87721" t="39898" r="556" b="37668"/>
          <a:stretch>
            <a:fillRect/>
          </a:stretch>
        </p:blipFill>
        <p:spPr>
          <a:xfrm>
            <a:off x="10030660" y="1988458"/>
            <a:ext cx="1724223" cy="1484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Immagine 6" descr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608" y="171936"/>
            <a:ext cx="1292733" cy="690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1" name="Immagine 8" descr="Immagine 8"/>
          <p:cNvPicPr>
            <a:picLocks noChangeAspect="1"/>
          </p:cNvPicPr>
          <p:nvPr/>
        </p:nvPicPr>
        <p:blipFill>
          <a:blip r:embed="rId3"/>
          <a:srcRect l="76889" t="24798" r="4979" b="17263"/>
          <a:stretch>
            <a:fillRect/>
          </a:stretch>
        </p:blipFill>
        <p:spPr>
          <a:xfrm>
            <a:off x="7301399" y="146539"/>
            <a:ext cx="1652946" cy="659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502" name="Immagine 9" descr="Immagine 9"/>
          <p:cNvPicPr>
            <a:picLocks noChangeAspect="1"/>
          </p:cNvPicPr>
          <p:nvPr/>
        </p:nvPicPr>
        <p:blipFill>
          <a:blip r:embed="rId3"/>
          <a:srcRect l="3912" t="24798" r="74124" b="17263"/>
          <a:stretch>
            <a:fillRect/>
          </a:stretch>
        </p:blipFill>
        <p:spPr>
          <a:xfrm>
            <a:off x="1165081" y="150174"/>
            <a:ext cx="2002315" cy="659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" name="Immagine 10" descr="Immagine 10"/>
          <p:cNvPicPr>
            <a:picLocks noChangeAspect="1"/>
          </p:cNvPicPr>
          <p:nvPr/>
        </p:nvPicPr>
        <p:blipFill>
          <a:blip r:embed="rId3"/>
          <a:srcRect l="30180" t="24797" r="50906" b="26062"/>
          <a:stretch>
            <a:fillRect/>
          </a:stretch>
        </p:blipFill>
        <p:spPr>
          <a:xfrm>
            <a:off x="3315406" y="210332"/>
            <a:ext cx="1724322" cy="559536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" name="Immagine 13" descr="Immagine 13"/>
          <p:cNvPicPr>
            <a:picLocks noChangeAspect="1"/>
          </p:cNvPicPr>
          <p:nvPr/>
        </p:nvPicPr>
        <p:blipFill>
          <a:blip r:embed="rId3"/>
          <a:srcRect l="52226" t="24798" r="28036" b="21003"/>
          <a:stretch>
            <a:fillRect/>
          </a:stretch>
        </p:blipFill>
        <p:spPr>
          <a:xfrm>
            <a:off x="5215291" y="168957"/>
            <a:ext cx="1799454" cy="617145"/>
          </a:xfrm>
          <a:prstGeom prst="rect">
            <a:avLst/>
          </a:prstGeom>
          <a:ln w="12700">
            <a:miter lim="400000"/>
          </a:ln>
        </p:spPr>
      </p:pic>
      <p:sp>
        <p:nvSpPr>
          <p:cNvPr id="505" name="Connettore diritto 14"/>
          <p:cNvSpPr/>
          <p:nvPr/>
        </p:nvSpPr>
        <p:spPr>
          <a:xfrm>
            <a:off x="3188081" y="210062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6" name="Rettangolo 18"/>
          <p:cNvSpPr/>
          <p:nvPr/>
        </p:nvSpPr>
        <p:spPr>
          <a:xfrm>
            <a:off x="-33730" y="6200775"/>
            <a:ext cx="12259462" cy="677701"/>
          </a:xfrm>
          <a:prstGeom prst="rect">
            <a:avLst/>
          </a:prstGeom>
          <a:gradFill>
            <a:gsLst>
              <a:gs pos="0">
                <a:srgbClr val="F5D3EF"/>
              </a:gs>
              <a:gs pos="100000">
                <a:srgbClr val="FFFFFF"/>
              </a:gs>
            </a:gsLst>
            <a:lin ang="16200000"/>
          </a:gradFill>
          <a:ln w="3175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7" name="Connettore diritto 15"/>
          <p:cNvSpPr/>
          <p:nvPr/>
        </p:nvSpPr>
        <p:spPr>
          <a:xfrm>
            <a:off x="5125543" y="210062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8" name="Connettore diritto 16"/>
          <p:cNvSpPr/>
          <p:nvPr/>
        </p:nvSpPr>
        <p:spPr>
          <a:xfrm>
            <a:off x="7068125" y="199824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9" name="Connettore diritto 17"/>
          <p:cNvSpPr/>
          <p:nvPr/>
        </p:nvSpPr>
        <p:spPr>
          <a:xfrm>
            <a:off x="9011879" y="199824"/>
            <a:ext cx="1" cy="484408"/>
          </a:xfrm>
          <a:prstGeom prst="line">
            <a:avLst/>
          </a:prstGeom>
          <a:ln w="31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10" name="age_bmi.pdf" descr="age_bmi.pdf"/>
          <p:cNvPicPr>
            <a:picLocks noChangeAspect="1"/>
          </p:cNvPicPr>
          <p:nvPr/>
        </p:nvPicPr>
        <p:blipFill>
          <a:blip r:embed="rId4"/>
          <a:srcRect r="17728"/>
          <a:stretch>
            <a:fillRect/>
          </a:stretch>
        </p:blipFill>
        <p:spPr>
          <a:xfrm>
            <a:off x="353970" y="1524832"/>
            <a:ext cx="9674490" cy="5291654"/>
          </a:xfrm>
          <a:prstGeom prst="rect">
            <a:avLst/>
          </a:prstGeom>
          <a:ln w="12700">
            <a:miter lim="400000"/>
          </a:ln>
        </p:spPr>
      </p:pic>
      <p:sp>
        <p:nvSpPr>
          <p:cNvPr id="511" name="Sottotitolo 2"/>
          <p:cNvSpPr txBox="1">
            <a:spLocks noGrp="1"/>
          </p:cNvSpPr>
          <p:nvPr>
            <p:ph type="subTitle" sz="quarter" idx="1"/>
          </p:nvPr>
        </p:nvSpPr>
        <p:spPr>
          <a:xfrm>
            <a:off x="334962" y="940264"/>
            <a:ext cx="11522076" cy="792163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solidFill>
                  <a:srgbClr val="0041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Probability of diabetes and cardiovascular diseases in the US aging population depending on </a:t>
            </a:r>
            <a:r>
              <a:rPr b="1"/>
              <a:t>BMI</a:t>
            </a:r>
          </a:p>
        </p:txBody>
      </p:sp>
      <p:sp>
        <p:nvSpPr>
          <p:cNvPr id="512" name="Sottotitolo 2"/>
          <p:cNvSpPr txBox="1"/>
          <p:nvPr/>
        </p:nvSpPr>
        <p:spPr>
          <a:xfrm>
            <a:off x="10006028" y="3776334"/>
            <a:ext cx="2002236" cy="2751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 lnSpcReduction="10000"/>
          </a:bodyPr>
          <a:lstStyle/>
          <a:p>
            <a:pPr algn="ctr" defTabSz="557784">
              <a:lnSpc>
                <a:spcPct val="90000"/>
              </a:lnSpc>
              <a:spcBef>
                <a:spcPts val="600"/>
              </a:spcBef>
              <a:defRPr sz="1464">
                <a:solidFill>
                  <a:srgbClr val="0041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Adjusting on: cohort, region, smoking, income, gender, ethnicity, education, income.</a:t>
            </a:r>
            <a:br/>
            <a:r>
              <a:t>Shaded areas show 95% confidence intervals based on the logistic model. Reference individual: living in south, smoker, female, born in 1952, white, education: some college, income: poor.</a:t>
            </a:r>
          </a:p>
        </p:txBody>
      </p:sp>
      <p:pic>
        <p:nvPicPr>
          <p:cNvPr id="513" name="age_bmi.pdf" descr="age_bmi.pdf"/>
          <p:cNvPicPr>
            <a:picLocks noChangeAspect="1"/>
          </p:cNvPicPr>
          <p:nvPr/>
        </p:nvPicPr>
        <p:blipFill>
          <a:blip r:embed="rId4"/>
          <a:srcRect l="83159" t="29273" b="34814"/>
          <a:stretch>
            <a:fillRect/>
          </a:stretch>
        </p:blipFill>
        <p:spPr>
          <a:xfrm>
            <a:off x="10017042" y="1576279"/>
            <a:ext cx="1980255" cy="19003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9FE10-71EB-D3E1-718C-8158CADF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ottotitolo 2">
            <a:extLst>
              <a:ext uri="{FF2B5EF4-FFF2-40B4-BE49-F238E27FC236}">
                <a16:creationId xmlns:a16="http://schemas.microsoft.com/office/drawing/2014/main" id="{0326E3CB-0A20-27F8-5ABD-34771B33D8C9}"/>
              </a:ext>
            </a:extLst>
          </p:cNvPr>
          <p:cNvSpPr txBox="1"/>
          <p:nvPr/>
        </p:nvSpPr>
        <p:spPr>
          <a:xfrm>
            <a:off x="380683" y="1520825"/>
            <a:ext cx="11430635" cy="4905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 lnSpcReduction="10000"/>
          </a:bodyPr>
          <a:lstStyle>
            <a:lvl1pPr algn="ctr">
              <a:spcBef>
                <a:spcPts val="1000"/>
              </a:spcBef>
              <a:defRPr sz="3200">
                <a:solidFill>
                  <a:srgbClr val="0036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it-IT" dirty="0"/>
              <a:t>In estrema sintesi:</a:t>
            </a:r>
          </a:p>
          <a:p>
            <a:pPr algn="l"/>
            <a:r>
              <a:rPr lang="it-IT" sz="2400" dirty="0"/>
              <a:t>Abbiamo studiato la prospettiva dell’»invecchiamento sano» osservando e analizzando la </a:t>
            </a:r>
            <a:r>
              <a:rPr lang="it-IT" sz="2400" b="1" dirty="0"/>
              <a:t>compressione della morbilità</a:t>
            </a:r>
          </a:p>
          <a:p>
            <a:pPr algn="l"/>
            <a:r>
              <a:rPr lang="it-IT" sz="2400" dirty="0"/>
              <a:t>Lo studio approfondito per coorti, aree geografiche, sottogruppi di popolazione consente di evidenziare eventuali </a:t>
            </a:r>
            <a:r>
              <a:rPr lang="it-IT" sz="2400" b="1" dirty="0"/>
              <a:t>diseguaglianze</a:t>
            </a:r>
            <a:r>
              <a:rPr lang="it-IT" sz="2400" dirty="0"/>
              <a:t> e capire meglio il </a:t>
            </a:r>
            <a:r>
              <a:rPr lang="it-IT" sz="2400" b="1" dirty="0"/>
              <a:t>processo</a:t>
            </a:r>
          </a:p>
          <a:p>
            <a:pPr algn="l"/>
            <a:r>
              <a:rPr lang="it-IT" sz="2400" dirty="0"/>
              <a:t>Le conseguenze per le </a:t>
            </a:r>
            <a:r>
              <a:rPr lang="it-IT" sz="2400" b="1" dirty="0"/>
              <a:t>policy</a:t>
            </a:r>
            <a:r>
              <a:rPr lang="it-IT" sz="2400" dirty="0"/>
              <a:t> sono immediate:</a:t>
            </a:r>
          </a:p>
          <a:p>
            <a:pPr marL="342900" indent="-342900" algn="l">
              <a:buFontTx/>
              <a:buChar char="-"/>
            </a:pPr>
            <a:r>
              <a:rPr lang="it-IT" sz="2400" dirty="0"/>
              <a:t>Rilevanza dei </a:t>
            </a:r>
            <a:r>
              <a:rPr lang="it-IT" sz="2400" b="1" dirty="0"/>
              <a:t>fattori di rischio</a:t>
            </a:r>
            <a:r>
              <a:rPr lang="it-IT" sz="2400" dirty="0"/>
              <a:t> e importanza di favorire il processo di compressione (non scontato) supportando prevenzione e promozione della salute</a:t>
            </a:r>
          </a:p>
          <a:p>
            <a:pPr marL="342900" indent="-342900" algn="l">
              <a:buFontTx/>
              <a:buChar char="-"/>
            </a:pPr>
            <a:r>
              <a:rPr lang="it-IT" sz="2400" b="1" dirty="0"/>
              <a:t>Interventi </a:t>
            </a:r>
            <a:r>
              <a:rPr lang="it-IT" sz="2400" b="1" dirty="0" err="1"/>
              <a:t>targhetizzati</a:t>
            </a:r>
            <a:r>
              <a:rPr lang="it-IT" sz="2400" dirty="0"/>
              <a:t> per la promozione della salute e la riduzione delle diseguaglianze</a:t>
            </a:r>
          </a:p>
          <a:p>
            <a:pPr marL="342900" indent="-342900" algn="l">
              <a:buFontTx/>
              <a:buChar char="-"/>
            </a:pPr>
            <a:r>
              <a:rPr lang="it-IT" sz="2400" dirty="0"/>
              <a:t>Rilevanza </a:t>
            </a:r>
            <a:r>
              <a:rPr lang="it-IT" sz="2400" dirty="0" err="1"/>
              <a:t>dell’</a:t>
            </a:r>
            <a:r>
              <a:rPr lang="it-IT" sz="2400" b="1" dirty="0" err="1"/>
              <a:t>active</a:t>
            </a:r>
            <a:r>
              <a:rPr lang="it-IT" sz="2400" b="1" dirty="0"/>
              <a:t> aging</a:t>
            </a:r>
            <a:r>
              <a:rPr lang="it-IT" sz="2400" dirty="0"/>
              <a:t> e valutazione di possibili interventi</a:t>
            </a:r>
          </a:p>
          <a:p>
            <a:pPr marL="342900" indent="-342900" algn="l">
              <a:buFontTx/>
              <a:buChar char="-"/>
            </a:pPr>
            <a:endParaRPr sz="2400" dirty="0"/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B21DECD5-99BD-F359-2B80-5930E8610F79}"/>
              </a:ext>
            </a:extLst>
          </p:cNvPr>
          <p:cNvSpPr/>
          <p:nvPr/>
        </p:nvSpPr>
        <p:spPr>
          <a:xfrm rot="20024756">
            <a:off x="855029" y="673033"/>
            <a:ext cx="2002315" cy="1168536"/>
          </a:xfrm>
          <a:prstGeom prst="ellipse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Calibri"/>
              </a:rPr>
              <a:t>SO WHAT?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16614EF-40A3-90B5-622C-5E76AEEFD1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545" y="290440"/>
            <a:ext cx="1088007" cy="13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181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56DE-036F-E16D-201C-21FE01F7F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ottotitolo 2">
            <a:extLst>
              <a:ext uri="{FF2B5EF4-FFF2-40B4-BE49-F238E27FC236}">
                <a16:creationId xmlns:a16="http://schemas.microsoft.com/office/drawing/2014/main" id="{43229603-1DE9-B374-8CE0-62B740C97CA8}"/>
              </a:ext>
            </a:extLst>
          </p:cNvPr>
          <p:cNvSpPr txBox="1"/>
          <p:nvPr/>
        </p:nvSpPr>
        <p:spPr>
          <a:xfrm>
            <a:off x="380683" y="1520825"/>
            <a:ext cx="11430635" cy="4905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algn="ctr">
              <a:spcBef>
                <a:spcPts val="1000"/>
              </a:spcBef>
              <a:defRPr sz="3200">
                <a:solidFill>
                  <a:srgbClr val="0036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it-IT" dirty="0"/>
              <a:t>Sul metodo statistico:</a:t>
            </a:r>
          </a:p>
          <a:p>
            <a:endParaRPr lang="it-IT" dirty="0"/>
          </a:p>
          <a:p>
            <a:pPr algn="l"/>
            <a:r>
              <a:rPr lang="it-IT" sz="2400" dirty="0" err="1"/>
              <a:t>Levium</a:t>
            </a:r>
            <a:r>
              <a:rPr lang="it-IT" sz="2400" dirty="0"/>
              <a:t> </a:t>
            </a:r>
            <a:r>
              <a:rPr lang="it-IT" sz="2400" dirty="0" err="1"/>
              <a:t>metallorum</a:t>
            </a:r>
            <a:r>
              <a:rPr lang="it-IT" sz="2400" dirty="0"/>
              <a:t> </a:t>
            </a:r>
            <a:r>
              <a:rPr lang="it-IT" sz="2400" dirty="0" err="1"/>
              <a:t>fructus</a:t>
            </a:r>
            <a:r>
              <a:rPr lang="it-IT" sz="2400" dirty="0"/>
              <a:t> in summo est; </a:t>
            </a:r>
            <a:r>
              <a:rPr lang="it-IT" sz="2400" dirty="0" err="1"/>
              <a:t>illa</a:t>
            </a:r>
            <a:r>
              <a:rPr lang="it-IT" sz="2400" dirty="0"/>
              <a:t> opulentissima </a:t>
            </a:r>
            <a:r>
              <a:rPr lang="it-IT" sz="2400" dirty="0" err="1"/>
              <a:t>sunt</a:t>
            </a:r>
            <a:r>
              <a:rPr lang="it-IT" sz="2400" dirty="0"/>
              <a:t>, quorum in alto </a:t>
            </a:r>
            <a:r>
              <a:rPr lang="it-IT" sz="2400" dirty="0" err="1"/>
              <a:t>latet</a:t>
            </a:r>
            <a:r>
              <a:rPr lang="it-IT" sz="2400" dirty="0"/>
              <a:t> vena, </a:t>
            </a:r>
            <a:r>
              <a:rPr lang="it-IT" sz="2400" b="1" dirty="0" err="1"/>
              <a:t>adsidue</a:t>
            </a:r>
            <a:r>
              <a:rPr lang="it-IT" sz="2400" b="1" dirty="0"/>
              <a:t> </a:t>
            </a:r>
            <a:r>
              <a:rPr lang="it-IT" sz="2400" b="1" dirty="0" err="1"/>
              <a:t>plenius</a:t>
            </a:r>
            <a:r>
              <a:rPr lang="it-IT" sz="2400" b="1" dirty="0"/>
              <a:t> responsura </a:t>
            </a:r>
            <a:r>
              <a:rPr lang="it-IT" sz="2400" b="1" dirty="0" err="1"/>
              <a:t>fodienti</a:t>
            </a:r>
            <a:r>
              <a:rPr lang="it-IT" sz="2400" dirty="0"/>
              <a:t>. </a:t>
            </a:r>
            <a:r>
              <a:rPr lang="it-IT" sz="2000" dirty="0"/>
              <a:t>(Seneca, 63 d.c., </a:t>
            </a:r>
            <a:r>
              <a:rPr lang="it-IT" sz="2000" i="1" dirty="0" err="1"/>
              <a:t>Epistulae</a:t>
            </a:r>
            <a:r>
              <a:rPr lang="it-IT" sz="2000" i="1" dirty="0"/>
              <a:t> </a:t>
            </a:r>
            <a:r>
              <a:rPr lang="it-IT" sz="2000" i="1" dirty="0" err="1"/>
              <a:t>morales</a:t>
            </a:r>
            <a:r>
              <a:rPr lang="it-IT" sz="2000" i="1" dirty="0"/>
              <a:t> ad </a:t>
            </a:r>
            <a:r>
              <a:rPr lang="it-IT" sz="2000" i="1" dirty="0" err="1"/>
              <a:t>Lucilium</a:t>
            </a:r>
            <a:r>
              <a:rPr lang="it-IT" sz="2000" dirty="0"/>
              <a:t>, 23, 5–6)</a:t>
            </a:r>
          </a:p>
          <a:p>
            <a:pPr algn="l"/>
            <a:endParaRPr lang="it-IT" sz="2000" dirty="0"/>
          </a:p>
          <a:p>
            <a:pPr algn="l"/>
            <a:r>
              <a:rPr lang="it-IT" sz="2400" dirty="0"/>
              <a:t>Il lavoro della ricerca (</a:t>
            </a:r>
            <a:r>
              <a:rPr lang="it-IT" sz="2400" i="1" dirty="0"/>
              <a:t>fodere)</a:t>
            </a:r>
            <a:r>
              <a:rPr lang="it-IT" sz="2400" dirty="0"/>
              <a:t>: tempo e persone</a:t>
            </a:r>
          </a:p>
          <a:p>
            <a:pPr algn="l"/>
            <a:endParaRPr lang="it-IT" sz="2400" dirty="0"/>
          </a:p>
          <a:p>
            <a:pPr algn="l"/>
            <a:endParaRPr sz="2800" dirty="0"/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F1F056D1-CC6B-12C8-5A65-E0AC615A2ACC}"/>
              </a:ext>
            </a:extLst>
          </p:cNvPr>
          <p:cNvSpPr/>
          <p:nvPr/>
        </p:nvSpPr>
        <p:spPr>
          <a:xfrm rot="20024756">
            <a:off x="855029" y="673033"/>
            <a:ext cx="2002315" cy="1168536"/>
          </a:xfrm>
          <a:prstGeom prst="ellipse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Calibri"/>
              </a:rPr>
              <a:t>SO WHAT?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0539897-1D99-488F-4D2A-AA6E0E5500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545" y="290440"/>
            <a:ext cx="1088007" cy="13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698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5413</TotalTime>
  <Words>2119</Words>
  <Application>Microsoft Office PowerPoint</Application>
  <PresentationFormat>Widescreen</PresentationFormat>
  <Paragraphs>242</Paragraphs>
  <Slides>33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40" baseType="lpstr">
      <vt:lpstr>Aptos</vt:lpstr>
      <vt:lpstr>Arial</vt:lpstr>
      <vt:lpstr>Calibri</vt:lpstr>
      <vt:lpstr>Calibri Light</vt:lpstr>
      <vt:lpstr>Proxima Nova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 nostri dati: indagine PASSI </vt:lpstr>
      <vt:lpstr>Morbidity curve</vt:lpstr>
      <vt:lpstr>NOTA METODOLOGICA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Informazione disponibile su cinque malattie croniche</vt:lpstr>
      <vt:lpstr>Il team in cui lavoro:  So.Sta. team </vt:lpstr>
      <vt:lpstr>Modello logistico multivariato</vt:lpstr>
      <vt:lpstr>Dipendenza spazio-temporale</vt:lpstr>
      <vt:lpstr>Modello logistico multivariato gerarchico</vt:lpstr>
      <vt:lpstr>Comunicare modelli statistici complessi ad esperti di salute pubblica: tradurre la scienza in azioni</vt:lpstr>
      <vt:lpstr>The FARSI approach</vt:lpstr>
      <vt:lpstr>The FARSI approach</vt:lpstr>
      <vt:lpstr>Alcuni fenomeni a livello Nazionale mostrati dalla web-app</vt:lpstr>
      <vt:lpstr>Alcuni fenomeni a livello Nazionale mostrati dalla web-app</vt:lpstr>
      <vt:lpstr>Alcuni fenomeni a livello Locale mostrati dalla web-app</vt:lpstr>
      <vt:lpstr>Alcuni fenomeni a livello Locale mostrati dalla web-app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Account Microsoft</dc:creator>
  <cp:lastModifiedBy>CAMPOSTRINI Stefano</cp:lastModifiedBy>
  <cp:revision>23</cp:revision>
  <dcterms:created xsi:type="dcterms:W3CDTF">2023-07-18T14:29:23Z</dcterms:created>
  <dcterms:modified xsi:type="dcterms:W3CDTF">2026-08-28T09:18:14Z</dcterms:modified>
</cp:coreProperties>
</file>